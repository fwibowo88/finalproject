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1"/>
  </p:notesMasterIdLst>
  <p:sldIdLst>
    <p:sldId id="256" r:id="rId2"/>
    <p:sldId id="258" r:id="rId3"/>
    <p:sldId id="257" r:id="rId4"/>
    <p:sldId id="279" r:id="rId5"/>
    <p:sldId id="259" r:id="rId6"/>
    <p:sldId id="287" r:id="rId7"/>
    <p:sldId id="260" r:id="rId8"/>
    <p:sldId id="261" r:id="rId9"/>
    <p:sldId id="262" r:id="rId10"/>
    <p:sldId id="263" r:id="rId11"/>
    <p:sldId id="271" r:id="rId12"/>
    <p:sldId id="264" r:id="rId13"/>
    <p:sldId id="265" r:id="rId14"/>
    <p:sldId id="266" r:id="rId15"/>
    <p:sldId id="267" r:id="rId16"/>
    <p:sldId id="268" r:id="rId17"/>
    <p:sldId id="269" r:id="rId18"/>
    <p:sldId id="270" r:id="rId19"/>
    <p:sldId id="273" r:id="rId20"/>
    <p:sldId id="274" r:id="rId21"/>
    <p:sldId id="275" r:id="rId22"/>
    <p:sldId id="272" r:id="rId23"/>
    <p:sldId id="276" r:id="rId24"/>
    <p:sldId id="280" r:id="rId25"/>
    <p:sldId id="281" r:id="rId26"/>
    <p:sldId id="282" r:id="rId27"/>
    <p:sldId id="284" r:id="rId28"/>
    <p:sldId id="286" r:id="rId29"/>
    <p:sldId id="283" r:id="rId3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50" d="100"/>
          <a:sy n="50" d="100"/>
        </p:scale>
        <p:origin x="-510"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812ADBC-1239-40D7-BBE4-6883A77796DD}" type="datetimeFigureOut">
              <a:rPr lang="en-US" smtClean="0"/>
              <a:pPr/>
              <a:t>3/12/2019</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598EC8F-97D5-4324-A068-2EF5ED1479EE}"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DOI = Digital Object Identifier</a:t>
            </a:r>
            <a:endParaRPr lang="en-US" dirty="0"/>
          </a:p>
        </p:txBody>
      </p:sp>
      <p:sp>
        <p:nvSpPr>
          <p:cNvPr id="4" name="Slide Number Placeholder 3"/>
          <p:cNvSpPr>
            <a:spLocks noGrp="1"/>
          </p:cNvSpPr>
          <p:nvPr>
            <p:ph type="sldNum" sz="quarter" idx="10"/>
          </p:nvPr>
        </p:nvSpPr>
        <p:spPr/>
        <p:txBody>
          <a:bodyPr/>
          <a:lstStyle/>
          <a:p>
            <a:fld id="{D598EC8F-97D5-4324-A068-2EF5ED1479EE}" type="slidenum">
              <a:rPr lang="en-US" smtClean="0"/>
              <a:pPr/>
              <a:t>8</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In case no</a:t>
            </a:r>
            <a:r>
              <a:rPr lang="en-US" baseline="0" dirty="0" smtClean="0"/>
              <a:t> real name appear, use screen name without bracket</a:t>
            </a:r>
            <a:endParaRPr lang="en-US" dirty="0"/>
          </a:p>
        </p:txBody>
      </p:sp>
      <p:sp>
        <p:nvSpPr>
          <p:cNvPr id="4" name="Slide Number Placeholder 3"/>
          <p:cNvSpPr>
            <a:spLocks noGrp="1"/>
          </p:cNvSpPr>
          <p:nvPr>
            <p:ph type="sldNum" sz="quarter" idx="10"/>
          </p:nvPr>
        </p:nvSpPr>
        <p:spPr/>
        <p:txBody>
          <a:bodyPr/>
          <a:lstStyle/>
          <a:p>
            <a:fld id="{D598EC8F-97D5-4324-A068-2EF5ED1479EE}" type="slidenum">
              <a:rPr lang="en-US" smtClean="0"/>
              <a:pPr/>
              <a:t>14</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If the lecture is</a:t>
            </a:r>
            <a:r>
              <a:rPr lang="en-US" baseline="0" dirty="0" smtClean="0"/>
              <a:t> not available online, maybe you document the lecture by yourself, then use the interview format of citation</a:t>
            </a:r>
            <a:endParaRPr lang="en-US" dirty="0"/>
          </a:p>
        </p:txBody>
      </p:sp>
      <p:sp>
        <p:nvSpPr>
          <p:cNvPr id="4" name="Slide Number Placeholder 3"/>
          <p:cNvSpPr>
            <a:spLocks noGrp="1"/>
          </p:cNvSpPr>
          <p:nvPr>
            <p:ph type="sldNum" sz="quarter" idx="10"/>
          </p:nvPr>
        </p:nvSpPr>
        <p:spPr/>
        <p:txBody>
          <a:bodyPr/>
          <a:lstStyle/>
          <a:p>
            <a:fld id="{D598EC8F-97D5-4324-A068-2EF5ED1479EE}" type="slidenum">
              <a:rPr lang="en-US" smtClean="0"/>
              <a:pPr/>
              <a:t>16</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85800" y="1122363"/>
            <a:ext cx="7772400" cy="2387600"/>
          </a:xfrm>
        </p:spPr>
        <p:txBody>
          <a:bodyPr anchor="b"/>
          <a:lstStyle>
            <a:lvl1pPr algn="l">
              <a:defRPr sz="6000" b="0">
                <a:solidFill>
                  <a:schemeClr val="bg1"/>
                </a:solidFill>
                <a:latin typeface="+mj-lt"/>
                <a:cs typeface="Helvetica" pitchFamily="34" charset="0"/>
              </a:defRPr>
            </a:lvl1pPr>
          </a:lstStyle>
          <a:p>
            <a:r>
              <a:rPr lang="en-US" dirty="0"/>
              <a:t>Title</a:t>
            </a:r>
          </a:p>
        </p:txBody>
      </p:sp>
      <p:sp>
        <p:nvSpPr>
          <p:cNvPr id="3" name="Subtitle 2"/>
          <p:cNvSpPr>
            <a:spLocks noGrp="1"/>
          </p:cNvSpPr>
          <p:nvPr>
            <p:ph type="subTitle" idx="1" hasCustomPrompt="1"/>
          </p:nvPr>
        </p:nvSpPr>
        <p:spPr>
          <a:xfrm>
            <a:off x="685800" y="3602038"/>
            <a:ext cx="7772400" cy="1655762"/>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a:t>
            </a:r>
          </a:p>
        </p:txBody>
      </p:sp>
      <p:sp>
        <p:nvSpPr>
          <p:cNvPr id="4" name="Date Placeholder 3"/>
          <p:cNvSpPr>
            <a:spLocks noGrp="1"/>
          </p:cNvSpPr>
          <p:nvPr>
            <p:ph type="dt" sz="half" idx="10"/>
          </p:nvPr>
        </p:nvSpPr>
        <p:spPr/>
        <p:txBody>
          <a:bodyPr/>
          <a:lstStyle/>
          <a:p>
            <a:fld id="{10843ACE-E6AE-47BB-9608-30035FB37D57}" type="datetimeFigureOut">
              <a:rPr lang="en-US" smtClean="0"/>
              <a:pPr/>
              <a:t>3/12/2019</a:t>
            </a:fld>
            <a:endParaRPr lang="en-US"/>
          </a:p>
        </p:txBody>
      </p:sp>
      <p:sp>
        <p:nvSpPr>
          <p:cNvPr id="5" name="Footer Placeholder 4"/>
          <p:cNvSpPr>
            <a:spLocks noGrp="1"/>
          </p:cNvSpPr>
          <p:nvPr>
            <p:ph type="ftr" sz="quarter" idx="11"/>
          </p:nvPr>
        </p:nvSpPr>
        <p:spPr/>
        <p:txBody>
          <a:bodyPr/>
          <a:lstStyle>
            <a:lvl1pPr>
              <a:defRPr>
                <a:solidFill>
                  <a:schemeClr val="bg1"/>
                </a:solidFill>
              </a:defRPr>
            </a:lvl1pPr>
          </a:lstStyle>
          <a:p>
            <a:endParaRPr lang="en-US"/>
          </a:p>
        </p:txBody>
      </p:sp>
      <p:sp>
        <p:nvSpPr>
          <p:cNvPr id="6" name="Slide Number Placeholder 5"/>
          <p:cNvSpPr>
            <a:spLocks noGrp="1"/>
          </p:cNvSpPr>
          <p:nvPr>
            <p:ph type="sldNum" sz="quarter" idx="12"/>
          </p:nvPr>
        </p:nvSpPr>
        <p:spPr/>
        <p:txBody>
          <a:bodyPr/>
          <a:lstStyle/>
          <a:p>
            <a:fld id="{F140B580-443B-4F45-8700-DCC6AE01E7FE}" type="slidenum">
              <a:rPr lang="en-US" smtClean="0"/>
              <a:pPr/>
              <a:t>‹#›</a:t>
            </a:fld>
            <a:endParaRPr lang="en-US"/>
          </a:p>
        </p:txBody>
      </p:sp>
      <p:pic>
        <p:nvPicPr>
          <p:cNvPr id="7" name="Picture 6"/>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a:off x="7222568" y="420450"/>
            <a:ext cx="1468188" cy="1593175"/>
          </a:xfrm>
          <a:prstGeom prst="rect">
            <a:avLst/>
          </a:prstGeom>
        </p:spPr>
      </p:pic>
    </p:spTree>
    <p:extLst>
      <p:ext uri="{BB962C8B-B14F-4D97-AF65-F5344CB8AC3E}">
        <p14:creationId xmlns="" xmlns:p14="http://schemas.microsoft.com/office/powerpoint/2010/main" val="25459668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23888" y="591970"/>
            <a:ext cx="7886700" cy="2852737"/>
          </a:xfrm>
        </p:spPr>
        <p:txBody>
          <a:bodyPr anchor="b"/>
          <a:lstStyle>
            <a:lvl1pPr>
              <a:defRPr sz="6000" b="0">
                <a:latin typeface="+mj-lt"/>
                <a:cs typeface="Helvetica" pitchFamily="34" charset="0"/>
              </a:defRPr>
            </a:lvl1pPr>
          </a:lstStyle>
          <a:p>
            <a:r>
              <a:rPr lang="en-US" dirty="0"/>
              <a:t>Title</a:t>
            </a:r>
          </a:p>
        </p:txBody>
      </p:sp>
      <p:sp>
        <p:nvSpPr>
          <p:cNvPr id="3" name="Text Placeholder 2"/>
          <p:cNvSpPr>
            <a:spLocks noGrp="1"/>
          </p:cNvSpPr>
          <p:nvPr>
            <p:ph type="body" idx="1" hasCustomPrompt="1"/>
          </p:nvPr>
        </p:nvSpPr>
        <p:spPr>
          <a:xfrm>
            <a:off x="623888" y="3566067"/>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Subtitle</a:t>
            </a:r>
          </a:p>
        </p:txBody>
      </p:sp>
      <p:sp>
        <p:nvSpPr>
          <p:cNvPr id="4" name="Date Placeholder 3"/>
          <p:cNvSpPr>
            <a:spLocks noGrp="1"/>
          </p:cNvSpPr>
          <p:nvPr>
            <p:ph type="dt" sz="half" idx="10"/>
          </p:nvPr>
        </p:nvSpPr>
        <p:spPr>
          <a:xfrm>
            <a:off x="1688480" y="6356351"/>
            <a:ext cx="997569" cy="365125"/>
          </a:xfrm>
        </p:spPr>
        <p:txBody>
          <a:bodyPr/>
          <a:lstStyle/>
          <a:p>
            <a:fld id="{10843ACE-E6AE-47BB-9608-30035FB37D57}" type="datetimeFigureOut">
              <a:rPr lang="en-US" smtClean="0"/>
              <a:pPr/>
              <a:t>3/12/2019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40B580-443B-4F45-8700-DCC6AE01E7FE}" type="slidenum">
              <a:rPr lang="en-US" smtClean="0"/>
              <a:pPr/>
              <a:t>‹#›</a:t>
            </a:fld>
            <a:endParaRPr lang="en-US"/>
          </a:p>
        </p:txBody>
      </p:sp>
      <p:pic>
        <p:nvPicPr>
          <p:cNvPr id="8" name="Picture 7"/>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a:off x="341279" y="5152687"/>
            <a:ext cx="1347202" cy="1462121"/>
          </a:xfrm>
          <a:prstGeom prst="rect">
            <a:avLst/>
          </a:prstGeom>
        </p:spPr>
      </p:pic>
    </p:spTree>
    <p:extLst>
      <p:ext uri="{BB962C8B-B14F-4D97-AF65-F5344CB8AC3E}">
        <p14:creationId xmlns="" xmlns:p14="http://schemas.microsoft.com/office/powerpoint/2010/main" val="5593534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605065" y="365126"/>
            <a:ext cx="6910285" cy="1325563"/>
          </a:xfrm>
        </p:spPr>
        <p:txBody>
          <a:bodyPr/>
          <a:lstStyle>
            <a:lvl1pPr>
              <a:defRPr b="0" i="0">
                <a:latin typeface="+mj-lt"/>
                <a:cs typeface="Helvetica" pitchFamily="34" charset="0"/>
              </a:defRPr>
            </a:lvl1pPr>
          </a:lstStyle>
          <a:p>
            <a:r>
              <a:rPr lang="en-US" dirty="0"/>
              <a:t>Subtitle</a:t>
            </a:r>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0843ACE-E6AE-47BB-9608-30035FB37D57}" type="datetimeFigureOut">
              <a:rPr lang="en-US" smtClean="0"/>
              <a:pPr/>
              <a:t>3/12/2019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40B580-443B-4F45-8700-DCC6AE01E7FE}" type="slidenum">
              <a:rPr lang="en-US" smtClean="0"/>
              <a:pPr/>
              <a:t>‹#›</a:t>
            </a:fld>
            <a:endParaRPr lang="en-US"/>
          </a:p>
        </p:txBody>
      </p:sp>
      <p:pic>
        <p:nvPicPr>
          <p:cNvPr id="7" name="Picture 6"/>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289129" y="323379"/>
            <a:ext cx="1315936" cy="1444125"/>
          </a:xfrm>
          <a:prstGeom prst="rect">
            <a:avLst/>
          </a:prstGeom>
        </p:spPr>
      </p:pic>
    </p:spTree>
    <p:extLst>
      <p:ext uri="{BB962C8B-B14F-4D97-AF65-F5344CB8AC3E}">
        <p14:creationId xmlns="" xmlns:p14="http://schemas.microsoft.com/office/powerpoint/2010/main" val="40488267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605065" y="365126"/>
            <a:ext cx="6910285" cy="1325563"/>
          </a:xfrm>
        </p:spPr>
        <p:txBody>
          <a:bodyPr/>
          <a:lstStyle>
            <a:lvl1pPr>
              <a:defRPr b="0"/>
            </a:lvl1pPr>
          </a:lstStyle>
          <a:p>
            <a:r>
              <a:rPr lang="en-US" smtClean="0"/>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10843ACE-E6AE-47BB-9608-30035FB37D57}" type="datetimeFigureOut">
              <a:rPr lang="en-US" smtClean="0"/>
              <a:pPr/>
              <a:t>3/12/2019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40B580-443B-4F45-8700-DCC6AE01E7FE}" type="slidenum">
              <a:rPr lang="en-US" smtClean="0"/>
              <a:pPr/>
              <a:t>‹#›</a:t>
            </a:fld>
            <a:endParaRPr lang="en-US"/>
          </a:p>
        </p:txBody>
      </p:sp>
      <p:pic>
        <p:nvPicPr>
          <p:cNvPr id="9" name="Picture 6">
            <a:extLst>
              <a:ext uri="{FF2B5EF4-FFF2-40B4-BE49-F238E27FC236}">
                <a16:creationId xmlns="" xmlns:a16="http://schemas.microsoft.com/office/drawing/2014/main" id="{0ADB37E1-FD43-4A78-B4D3-B886A4FD8944}"/>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289129" y="323379"/>
            <a:ext cx="1315936" cy="1444125"/>
          </a:xfrm>
          <a:prstGeom prst="rect">
            <a:avLst/>
          </a:prstGeom>
        </p:spPr>
      </p:pic>
    </p:spTree>
    <p:extLst>
      <p:ext uri="{BB962C8B-B14F-4D97-AF65-F5344CB8AC3E}">
        <p14:creationId xmlns="" xmlns:p14="http://schemas.microsoft.com/office/powerpoint/2010/main" val="2339452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605065" y="365126"/>
            <a:ext cx="6911476"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10843ACE-E6AE-47BB-9608-30035FB37D57}" type="datetimeFigureOut">
              <a:rPr lang="en-US" smtClean="0"/>
              <a:pPr/>
              <a:t>3/12/2019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140B580-443B-4F45-8700-DCC6AE01E7FE}" type="slidenum">
              <a:rPr lang="en-US" smtClean="0"/>
              <a:pPr/>
              <a:t>‹#›</a:t>
            </a:fld>
            <a:endParaRPr lang="en-US"/>
          </a:p>
        </p:txBody>
      </p:sp>
      <p:pic>
        <p:nvPicPr>
          <p:cNvPr id="10" name="Picture 6">
            <a:extLst>
              <a:ext uri="{FF2B5EF4-FFF2-40B4-BE49-F238E27FC236}">
                <a16:creationId xmlns="" xmlns:a16="http://schemas.microsoft.com/office/drawing/2014/main" id="{F90901F1-C4F2-4F7F-B6C2-6598F59116A7}"/>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289129" y="323379"/>
            <a:ext cx="1315936" cy="1444125"/>
          </a:xfrm>
          <a:prstGeom prst="rect">
            <a:avLst/>
          </a:prstGeom>
        </p:spPr>
      </p:pic>
    </p:spTree>
    <p:extLst>
      <p:ext uri="{BB962C8B-B14F-4D97-AF65-F5344CB8AC3E}">
        <p14:creationId xmlns="" xmlns:p14="http://schemas.microsoft.com/office/powerpoint/2010/main" val="33912482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605065" y="365126"/>
            <a:ext cx="6910285" cy="1325563"/>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10843ACE-E6AE-47BB-9608-30035FB37D57}" type="datetimeFigureOut">
              <a:rPr lang="en-US" smtClean="0"/>
              <a:pPr/>
              <a:t>3/12/2019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140B580-443B-4F45-8700-DCC6AE01E7FE}" type="slidenum">
              <a:rPr lang="en-US" smtClean="0"/>
              <a:pPr/>
              <a:t>‹#›</a:t>
            </a:fld>
            <a:endParaRPr lang="en-US"/>
          </a:p>
        </p:txBody>
      </p:sp>
      <p:pic>
        <p:nvPicPr>
          <p:cNvPr id="6" name="Picture 6">
            <a:extLst>
              <a:ext uri="{FF2B5EF4-FFF2-40B4-BE49-F238E27FC236}">
                <a16:creationId xmlns="" xmlns:a16="http://schemas.microsoft.com/office/drawing/2014/main" id="{86D4C3D9-B9AE-411C-A449-BCF4EF418371}"/>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289129" y="323379"/>
            <a:ext cx="1315936" cy="1444125"/>
          </a:xfrm>
          <a:prstGeom prst="rect">
            <a:avLst/>
          </a:prstGeom>
        </p:spPr>
      </p:pic>
    </p:spTree>
    <p:extLst>
      <p:ext uri="{BB962C8B-B14F-4D97-AF65-F5344CB8AC3E}">
        <p14:creationId xmlns="" xmlns:p14="http://schemas.microsoft.com/office/powerpoint/2010/main" val="24428109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0843ACE-E6AE-47BB-9608-30035FB37D57}" type="datetimeFigureOut">
              <a:rPr lang="en-US" smtClean="0"/>
              <a:pPr/>
              <a:t>3/12/2019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140B580-443B-4F45-8700-DCC6AE01E7FE}" type="slidenum">
              <a:rPr lang="en-US" smtClean="0"/>
              <a:pPr/>
              <a:t>‹#›</a:t>
            </a:fld>
            <a:endParaRPr lang="en-US"/>
          </a:p>
        </p:txBody>
      </p:sp>
    </p:spTree>
    <p:extLst>
      <p:ext uri="{BB962C8B-B14F-4D97-AF65-F5344CB8AC3E}">
        <p14:creationId xmlns="" xmlns:p14="http://schemas.microsoft.com/office/powerpoint/2010/main" val="9412273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05065" y="457200"/>
            <a:ext cx="1973954" cy="1600200"/>
          </a:xfrm>
        </p:spPr>
        <p:txBody>
          <a:bodyPr anchor="b">
            <a:normAutofit/>
          </a:bodyPr>
          <a:lstStyle>
            <a:lvl1pPr>
              <a:defRPr sz="2400"/>
            </a:lvl1pPr>
          </a:lstStyle>
          <a:p>
            <a:r>
              <a:rPr lang="en-US" smtClean="0"/>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0843ACE-E6AE-47BB-9608-30035FB37D57}" type="datetimeFigureOut">
              <a:rPr lang="en-US" smtClean="0"/>
              <a:pPr/>
              <a:t>3/12/2019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40B580-443B-4F45-8700-DCC6AE01E7FE}" type="slidenum">
              <a:rPr lang="en-US" smtClean="0"/>
              <a:pPr/>
              <a:t>‹#›</a:t>
            </a:fld>
            <a:endParaRPr lang="en-US"/>
          </a:p>
        </p:txBody>
      </p:sp>
      <p:pic>
        <p:nvPicPr>
          <p:cNvPr id="8" name="Picture 6">
            <a:extLst>
              <a:ext uri="{FF2B5EF4-FFF2-40B4-BE49-F238E27FC236}">
                <a16:creationId xmlns="" xmlns:a16="http://schemas.microsoft.com/office/drawing/2014/main" id="{7C6CE037-4562-4509-93E4-25589F3E3D4E}"/>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289129" y="323379"/>
            <a:ext cx="1315936" cy="1444125"/>
          </a:xfrm>
          <a:prstGeom prst="rect">
            <a:avLst/>
          </a:prstGeom>
        </p:spPr>
      </p:pic>
    </p:spTree>
    <p:extLst>
      <p:ext uri="{BB962C8B-B14F-4D97-AF65-F5344CB8AC3E}">
        <p14:creationId xmlns="" xmlns:p14="http://schemas.microsoft.com/office/powerpoint/2010/main" val="11289392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05065" y="457200"/>
            <a:ext cx="1973954" cy="1600200"/>
          </a:xfrm>
        </p:spPr>
        <p:txBody>
          <a:bodyPr anchor="b">
            <a:normAutofit/>
          </a:bodyPr>
          <a:lstStyle>
            <a:lvl1pPr>
              <a:defRPr sz="24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0843ACE-E6AE-47BB-9608-30035FB37D57}" type="datetimeFigureOut">
              <a:rPr lang="en-US" smtClean="0"/>
              <a:pPr/>
              <a:t>3/12/2019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40B580-443B-4F45-8700-DCC6AE01E7FE}" type="slidenum">
              <a:rPr lang="en-US" smtClean="0"/>
              <a:pPr/>
              <a:t>‹#›</a:t>
            </a:fld>
            <a:endParaRPr lang="en-US"/>
          </a:p>
        </p:txBody>
      </p:sp>
      <p:pic>
        <p:nvPicPr>
          <p:cNvPr id="8" name="Picture 6">
            <a:extLst>
              <a:ext uri="{FF2B5EF4-FFF2-40B4-BE49-F238E27FC236}">
                <a16:creationId xmlns="" xmlns:a16="http://schemas.microsoft.com/office/drawing/2014/main" id="{FB61F3F5-78C0-4795-B3A5-7CBCFC2DC1DE}"/>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289129" y="323379"/>
            <a:ext cx="1315936" cy="1444125"/>
          </a:xfrm>
          <a:prstGeom prst="rect">
            <a:avLst/>
          </a:prstGeom>
        </p:spPr>
      </p:pic>
    </p:spTree>
    <p:extLst>
      <p:ext uri="{BB962C8B-B14F-4D97-AF65-F5344CB8AC3E}">
        <p14:creationId xmlns="" xmlns:p14="http://schemas.microsoft.com/office/powerpoint/2010/main" val="39589017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hank You">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Judul 1">
            <a:extLst>
              <a:ext uri="{FF2B5EF4-FFF2-40B4-BE49-F238E27FC236}">
                <a16:creationId xmlns="" xmlns:a16="http://schemas.microsoft.com/office/drawing/2014/main" id="{21C07B93-16A8-4FEC-B9B7-485CEAD67C57}"/>
              </a:ext>
            </a:extLst>
          </p:cNvPr>
          <p:cNvSpPr>
            <a:spLocks noGrp="1"/>
          </p:cNvSpPr>
          <p:nvPr>
            <p:ph type="title" hasCustomPrompt="1"/>
          </p:nvPr>
        </p:nvSpPr>
        <p:spPr>
          <a:xfrm>
            <a:off x="570461" y="2476559"/>
            <a:ext cx="7886700" cy="1325563"/>
          </a:xfrm>
        </p:spPr>
        <p:txBody>
          <a:bodyPr/>
          <a:lstStyle>
            <a:lvl1pPr algn="ctr">
              <a:defRPr b="1">
                <a:solidFill>
                  <a:schemeClr val="bg1"/>
                </a:solidFill>
              </a:defRPr>
            </a:lvl1pPr>
          </a:lstStyle>
          <a:p>
            <a:r>
              <a:rPr lang="id-ID" dirty="0"/>
              <a:t>Terima Kasih</a:t>
            </a:r>
          </a:p>
        </p:txBody>
      </p:sp>
      <p:sp>
        <p:nvSpPr>
          <p:cNvPr id="3" name="Tampungan Tanggal 2">
            <a:extLst>
              <a:ext uri="{FF2B5EF4-FFF2-40B4-BE49-F238E27FC236}">
                <a16:creationId xmlns="" xmlns:a16="http://schemas.microsoft.com/office/drawing/2014/main" id="{1DAB89F5-F152-401C-935D-EB9A6D1CF6A1}"/>
              </a:ext>
            </a:extLst>
          </p:cNvPr>
          <p:cNvSpPr>
            <a:spLocks noGrp="1"/>
          </p:cNvSpPr>
          <p:nvPr>
            <p:ph type="dt" sz="half" idx="10"/>
          </p:nvPr>
        </p:nvSpPr>
        <p:spPr/>
        <p:txBody>
          <a:bodyPr/>
          <a:lstStyle/>
          <a:p>
            <a:fld id="{10843ACE-E6AE-47BB-9608-30035FB37D57}" type="datetimeFigureOut">
              <a:rPr lang="en-US" smtClean="0"/>
              <a:pPr/>
              <a:t>3/12/2019</a:t>
            </a:fld>
            <a:endParaRPr lang="en-US"/>
          </a:p>
        </p:txBody>
      </p:sp>
      <p:sp>
        <p:nvSpPr>
          <p:cNvPr id="4" name="Tampungan Kaki 3">
            <a:extLst>
              <a:ext uri="{FF2B5EF4-FFF2-40B4-BE49-F238E27FC236}">
                <a16:creationId xmlns="" xmlns:a16="http://schemas.microsoft.com/office/drawing/2014/main" id="{2F63013C-D2C8-4842-96C3-D1FF21932AC4}"/>
              </a:ext>
            </a:extLst>
          </p:cNvPr>
          <p:cNvSpPr>
            <a:spLocks noGrp="1"/>
          </p:cNvSpPr>
          <p:nvPr>
            <p:ph type="ftr" sz="quarter" idx="11"/>
          </p:nvPr>
        </p:nvSpPr>
        <p:spPr/>
        <p:txBody>
          <a:bodyPr/>
          <a:lstStyle/>
          <a:p>
            <a:endParaRPr lang="en-US"/>
          </a:p>
        </p:txBody>
      </p:sp>
      <p:sp>
        <p:nvSpPr>
          <p:cNvPr id="5" name="Tampungan Nomor Slide 4">
            <a:extLst>
              <a:ext uri="{FF2B5EF4-FFF2-40B4-BE49-F238E27FC236}">
                <a16:creationId xmlns="" xmlns:a16="http://schemas.microsoft.com/office/drawing/2014/main" id="{95598483-102E-474D-B3B0-632AE318A865}"/>
              </a:ext>
            </a:extLst>
          </p:cNvPr>
          <p:cNvSpPr>
            <a:spLocks noGrp="1"/>
          </p:cNvSpPr>
          <p:nvPr>
            <p:ph type="sldNum" sz="quarter" idx="12"/>
          </p:nvPr>
        </p:nvSpPr>
        <p:spPr/>
        <p:txBody>
          <a:bodyPr/>
          <a:lstStyle/>
          <a:p>
            <a:fld id="{F140B580-443B-4F45-8700-DCC6AE01E7FE}" type="slidenum">
              <a:rPr lang="en-US" smtClean="0"/>
              <a:pPr/>
              <a:t>‹#›</a:t>
            </a:fld>
            <a:endParaRPr lang="en-US"/>
          </a:p>
        </p:txBody>
      </p:sp>
    </p:spTree>
    <p:extLst>
      <p:ext uri="{BB962C8B-B14F-4D97-AF65-F5344CB8AC3E}">
        <p14:creationId xmlns="" xmlns:p14="http://schemas.microsoft.com/office/powerpoint/2010/main" val="5612441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2" cstate="print">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0843ACE-E6AE-47BB-9608-30035FB37D57}" type="datetimeFigureOut">
              <a:rPr lang="en-US" smtClean="0"/>
              <a:pPr/>
              <a:t>3/12/2019</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140B580-443B-4F45-8700-DCC6AE01E7FE}" type="slidenum">
              <a:rPr lang="en-US" smtClean="0"/>
              <a:pPr/>
              <a:t>‹#›</a:t>
            </a:fld>
            <a:endParaRPr lang="en-US"/>
          </a:p>
        </p:txBody>
      </p:sp>
    </p:spTree>
    <p:extLst>
      <p:ext uri="{BB962C8B-B14F-4D97-AF65-F5344CB8AC3E}">
        <p14:creationId xmlns="" xmlns:p14="http://schemas.microsoft.com/office/powerpoint/2010/main" val="56725601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hyperlink" Target="http://grantland.com/the-triangle/the-tale-of-two-flaccos/" TargetMode="Externa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id-ID" dirty="0" smtClean="0"/>
              <a:t>Citation</a:t>
            </a:r>
            <a:endParaRPr lang="en-US" dirty="0"/>
          </a:p>
        </p:txBody>
      </p:sp>
      <p:sp>
        <p:nvSpPr>
          <p:cNvPr id="3" name="Subtitle 2"/>
          <p:cNvSpPr>
            <a:spLocks noGrp="1"/>
          </p:cNvSpPr>
          <p:nvPr>
            <p:ph type="subTitle" idx="1"/>
          </p:nvPr>
        </p:nvSpPr>
        <p:spPr/>
        <p:txBody>
          <a:bodyPr/>
          <a:lstStyle/>
          <a:p>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dirty="0" smtClean="0"/>
              <a:t>What is Citation</a:t>
            </a:r>
            <a:endParaRPr lang="en-US" dirty="0"/>
          </a:p>
        </p:txBody>
      </p:sp>
      <p:sp>
        <p:nvSpPr>
          <p:cNvPr id="3" name="Content Placeholder 2"/>
          <p:cNvSpPr>
            <a:spLocks noGrp="1"/>
          </p:cNvSpPr>
          <p:nvPr>
            <p:ph idx="1"/>
          </p:nvPr>
        </p:nvSpPr>
        <p:spPr/>
        <p:txBody>
          <a:bodyPr/>
          <a:lstStyle/>
          <a:p>
            <a:r>
              <a:rPr lang="en-US" dirty="0" err="1" smtClean="0"/>
              <a:t>Mengutip</a:t>
            </a:r>
            <a:r>
              <a:rPr lang="en-US" dirty="0" smtClean="0"/>
              <a:t> / cite </a:t>
            </a:r>
          </a:p>
          <a:p>
            <a:r>
              <a:rPr lang="en-US" dirty="0" err="1" smtClean="0"/>
              <a:t>Mengemukakan</a:t>
            </a:r>
            <a:r>
              <a:rPr lang="en-US" dirty="0" smtClean="0"/>
              <a:t> </a:t>
            </a:r>
            <a:r>
              <a:rPr lang="en-US" dirty="0" err="1" smtClean="0"/>
              <a:t>ide</a:t>
            </a:r>
            <a:r>
              <a:rPr lang="en-US" dirty="0" smtClean="0"/>
              <a:t> yang </a:t>
            </a:r>
            <a:r>
              <a:rPr lang="en-US" dirty="0" err="1" smtClean="0"/>
              <a:t>pernah</a:t>
            </a:r>
            <a:r>
              <a:rPr lang="en-US" dirty="0" smtClean="0"/>
              <a:t> </a:t>
            </a:r>
            <a:r>
              <a:rPr lang="en-US" dirty="0" err="1" smtClean="0"/>
              <a:t>dituliskan</a:t>
            </a:r>
            <a:r>
              <a:rPr lang="en-US" dirty="0" smtClean="0"/>
              <a:t> </a:t>
            </a:r>
            <a:r>
              <a:rPr lang="en-US" dirty="0" err="1" smtClean="0"/>
              <a:t>oleh</a:t>
            </a:r>
            <a:r>
              <a:rPr lang="en-US" dirty="0" smtClean="0"/>
              <a:t> </a:t>
            </a:r>
            <a:r>
              <a:rPr lang="en-US" dirty="0" err="1" smtClean="0"/>
              <a:t>peneliti</a:t>
            </a:r>
            <a:r>
              <a:rPr lang="en-US" dirty="0" smtClean="0"/>
              <a:t> </a:t>
            </a:r>
            <a:r>
              <a:rPr lang="en-US" dirty="0" err="1" smtClean="0"/>
              <a:t>atau</a:t>
            </a:r>
            <a:r>
              <a:rPr lang="en-US" dirty="0" smtClean="0"/>
              <a:t> </a:t>
            </a:r>
            <a:r>
              <a:rPr lang="en-US" dirty="0" err="1" smtClean="0"/>
              <a:t>penulis</a:t>
            </a:r>
            <a:r>
              <a:rPr lang="en-US" dirty="0" smtClean="0"/>
              <a:t> lain</a:t>
            </a:r>
          </a:p>
          <a:p>
            <a:pPr>
              <a:buNone/>
            </a:pP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Citation Format</a:t>
            </a:r>
            <a:endParaRPr lang="en-US" dirty="0"/>
          </a:p>
        </p:txBody>
      </p:sp>
      <p:sp>
        <p:nvSpPr>
          <p:cNvPr id="5" name="Content Placeholder 4"/>
          <p:cNvSpPr>
            <a:spLocks noGrp="1"/>
          </p:cNvSpPr>
          <p:nvPr>
            <p:ph idx="1"/>
          </p:nvPr>
        </p:nvSpPr>
        <p:spPr/>
        <p:txBody>
          <a:bodyPr/>
          <a:lstStyle/>
          <a:p>
            <a:r>
              <a:rPr lang="en-US" dirty="0" smtClean="0"/>
              <a:t>Format yang </a:t>
            </a:r>
            <a:r>
              <a:rPr lang="en-US" dirty="0" err="1" smtClean="0"/>
              <a:t>dipakai</a:t>
            </a:r>
            <a:r>
              <a:rPr lang="en-US" dirty="0" smtClean="0"/>
              <a:t> </a:t>
            </a:r>
            <a:r>
              <a:rPr lang="en-US" dirty="0" err="1" smtClean="0"/>
              <a:t>adalah</a:t>
            </a:r>
            <a:r>
              <a:rPr lang="en-US" dirty="0" smtClean="0"/>
              <a:t> APA (American Psychological Association)</a:t>
            </a:r>
          </a:p>
          <a:p>
            <a:pPr>
              <a:buNone/>
            </a:pPr>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dirty="0" smtClean="0"/>
              <a:t>Citation Type</a:t>
            </a:r>
            <a:endParaRPr lang="id-ID" dirty="0"/>
          </a:p>
        </p:txBody>
      </p:sp>
      <p:sp>
        <p:nvSpPr>
          <p:cNvPr id="3" name="Content Placeholder 2"/>
          <p:cNvSpPr>
            <a:spLocks noGrp="1"/>
          </p:cNvSpPr>
          <p:nvPr>
            <p:ph idx="1"/>
          </p:nvPr>
        </p:nvSpPr>
        <p:spPr/>
        <p:txBody>
          <a:bodyPr/>
          <a:lstStyle/>
          <a:p>
            <a:r>
              <a:rPr lang="id-ID" dirty="0" smtClean="0"/>
              <a:t>Direct Quotation</a:t>
            </a:r>
          </a:p>
          <a:p>
            <a:pPr>
              <a:buNone/>
            </a:pPr>
            <a:r>
              <a:rPr lang="id-ID" dirty="0" smtClean="0"/>
              <a:t>Mengutip  serangkaian kata tepat seperti aslinya</a:t>
            </a:r>
          </a:p>
          <a:p>
            <a:r>
              <a:rPr lang="id-ID" dirty="0" smtClean="0"/>
              <a:t>Paraphrase</a:t>
            </a:r>
          </a:p>
          <a:p>
            <a:pPr>
              <a:buNone/>
            </a:pPr>
            <a:r>
              <a:rPr lang="id-ID" dirty="0" smtClean="0"/>
              <a:t>Mengutip dengan memakai kata-kata yang berbeda </a:t>
            </a:r>
          </a:p>
          <a:p>
            <a:pPr>
              <a:buNone/>
            </a:pPr>
            <a:r>
              <a:rPr lang="id-ID" dirty="0" smtClean="0"/>
              <a:t>dengan aslinya</a:t>
            </a:r>
            <a:endParaRPr lang="id-ID"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dirty="0" smtClean="0"/>
              <a:t>How to Cite</a:t>
            </a:r>
            <a:endParaRPr lang="en-US" dirty="0"/>
          </a:p>
        </p:txBody>
      </p:sp>
      <p:sp>
        <p:nvSpPr>
          <p:cNvPr id="3" name="Content Placeholder 2"/>
          <p:cNvSpPr>
            <a:spLocks noGrp="1"/>
          </p:cNvSpPr>
          <p:nvPr>
            <p:ph idx="1"/>
          </p:nvPr>
        </p:nvSpPr>
        <p:spPr/>
        <p:txBody>
          <a:bodyPr/>
          <a:lstStyle/>
          <a:p>
            <a:r>
              <a:rPr lang="en-US" dirty="0" err="1" smtClean="0"/>
              <a:t>Tampilkan</a:t>
            </a:r>
            <a:r>
              <a:rPr lang="en-US" dirty="0" smtClean="0"/>
              <a:t> </a:t>
            </a:r>
            <a:r>
              <a:rPr lang="en-US" dirty="0" err="1" smtClean="0"/>
              <a:t>petunjuk</a:t>
            </a:r>
            <a:r>
              <a:rPr lang="en-US" dirty="0" smtClean="0"/>
              <a:t> </a:t>
            </a:r>
            <a:r>
              <a:rPr lang="en-US" dirty="0" err="1" smtClean="0"/>
              <a:t>referensi</a:t>
            </a:r>
            <a:r>
              <a:rPr lang="en-US" dirty="0" smtClean="0"/>
              <a:t> </a:t>
            </a:r>
            <a:r>
              <a:rPr lang="en-US" dirty="0" err="1" smtClean="0"/>
              <a:t>sumber</a:t>
            </a:r>
            <a:r>
              <a:rPr lang="en-US" dirty="0" smtClean="0"/>
              <a:t> </a:t>
            </a:r>
            <a:r>
              <a:rPr lang="en-US" dirty="0" err="1" smtClean="0"/>
              <a:t>pada</a:t>
            </a:r>
            <a:r>
              <a:rPr lang="en-US" dirty="0" smtClean="0"/>
              <a:t> </a:t>
            </a:r>
            <a:r>
              <a:rPr lang="en-US" dirty="0" err="1" smtClean="0"/>
              <a:t>kalimat</a:t>
            </a:r>
            <a:r>
              <a:rPr lang="en-US" dirty="0" smtClean="0"/>
              <a:t> </a:t>
            </a:r>
            <a:r>
              <a:rPr lang="en-US" dirty="0" err="1" smtClean="0"/>
              <a:t>pertama</a:t>
            </a:r>
            <a:r>
              <a:rPr lang="en-US" dirty="0" smtClean="0"/>
              <a:t> yang </a:t>
            </a:r>
            <a:r>
              <a:rPr lang="en-US" dirty="0" err="1" smtClean="0"/>
              <a:t>dikutip</a:t>
            </a:r>
            <a:r>
              <a:rPr lang="en-US" dirty="0" smtClean="0"/>
              <a:t> (in-text citation)</a:t>
            </a:r>
          </a:p>
          <a:p>
            <a:r>
              <a:rPr lang="en-US" dirty="0" err="1" smtClean="0"/>
              <a:t>Tampilkan</a:t>
            </a:r>
            <a:r>
              <a:rPr lang="en-US" dirty="0" smtClean="0"/>
              <a:t> detail </a:t>
            </a:r>
            <a:r>
              <a:rPr lang="en-US" dirty="0" err="1" smtClean="0"/>
              <a:t>referensi</a:t>
            </a:r>
            <a:r>
              <a:rPr lang="en-US" dirty="0" smtClean="0"/>
              <a:t> </a:t>
            </a:r>
            <a:r>
              <a:rPr lang="en-US" dirty="0" err="1" smtClean="0"/>
              <a:t>pada</a:t>
            </a:r>
            <a:r>
              <a:rPr lang="en-US" dirty="0" smtClean="0"/>
              <a:t> </a:t>
            </a:r>
            <a:r>
              <a:rPr lang="en-US" dirty="0" err="1" smtClean="0"/>
              <a:t>daftar</a:t>
            </a:r>
            <a:r>
              <a:rPr lang="en-US" dirty="0" smtClean="0"/>
              <a:t> </a:t>
            </a:r>
            <a:r>
              <a:rPr lang="en-US" dirty="0" err="1" smtClean="0"/>
              <a:t>pustaka</a:t>
            </a:r>
            <a:r>
              <a:rPr lang="en-US" dirty="0" smtClean="0"/>
              <a:t> (reference list)</a:t>
            </a:r>
          </a:p>
          <a:p>
            <a:r>
              <a:rPr lang="en-US" dirty="0" err="1" smtClean="0"/>
              <a:t>Judul</a:t>
            </a:r>
            <a:r>
              <a:rPr lang="en-US" dirty="0" smtClean="0"/>
              <a:t> </a:t>
            </a:r>
            <a:r>
              <a:rPr lang="en-US" dirty="0" err="1" smtClean="0"/>
              <a:t>harus</a:t>
            </a:r>
            <a:r>
              <a:rPr lang="en-US" dirty="0" smtClean="0"/>
              <a:t> </a:t>
            </a:r>
            <a:r>
              <a:rPr lang="en-US" dirty="0" err="1" smtClean="0"/>
              <a:t>diawali</a:t>
            </a:r>
            <a:r>
              <a:rPr lang="en-US" dirty="0" smtClean="0"/>
              <a:t> </a:t>
            </a:r>
            <a:r>
              <a:rPr lang="en-US" dirty="0" err="1" smtClean="0"/>
              <a:t>huruf</a:t>
            </a:r>
            <a:r>
              <a:rPr lang="en-US" dirty="0" smtClean="0"/>
              <a:t> </a:t>
            </a:r>
            <a:r>
              <a:rPr lang="en-US" dirty="0" err="1" smtClean="0"/>
              <a:t>besar</a:t>
            </a:r>
            <a:endParaRPr lang="en-US" dirty="0" smtClean="0"/>
          </a:p>
          <a:p>
            <a:r>
              <a:rPr lang="en-US" dirty="0" err="1" smtClean="0"/>
              <a:t>Judul</a:t>
            </a:r>
            <a:r>
              <a:rPr lang="en-US" dirty="0" smtClean="0"/>
              <a:t> </a:t>
            </a:r>
            <a:r>
              <a:rPr lang="en-US" dirty="0" err="1" smtClean="0"/>
              <a:t>harus</a:t>
            </a:r>
            <a:r>
              <a:rPr lang="en-US" dirty="0" smtClean="0"/>
              <a:t> </a:t>
            </a:r>
            <a:r>
              <a:rPr lang="en-US" dirty="0" err="1" smtClean="0"/>
              <a:t>dicetak</a:t>
            </a:r>
            <a:r>
              <a:rPr lang="en-US" dirty="0" smtClean="0"/>
              <a:t> Italic</a:t>
            </a:r>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smtClean="0"/>
              <a:t>Daftar Pustaka</a:t>
            </a:r>
            <a:endParaRPr lang="id-ID"/>
          </a:p>
        </p:txBody>
      </p:sp>
      <p:sp>
        <p:nvSpPr>
          <p:cNvPr id="3" name="Content Placeholder 2"/>
          <p:cNvSpPr>
            <a:spLocks noGrp="1"/>
          </p:cNvSpPr>
          <p:nvPr>
            <p:ph idx="1"/>
          </p:nvPr>
        </p:nvSpPr>
        <p:spPr/>
        <p:txBody>
          <a:bodyPr/>
          <a:lstStyle/>
          <a:p>
            <a:endParaRPr lang="id-ID"/>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Journal </a:t>
            </a:r>
            <a:r>
              <a:rPr lang="en-US" dirty="0" err="1" smtClean="0"/>
              <a:t>Cetak</a:t>
            </a:r>
            <a:endParaRPr lang="en-US" dirty="0"/>
          </a:p>
        </p:txBody>
      </p:sp>
      <p:sp>
        <p:nvSpPr>
          <p:cNvPr id="3" name="Content Placeholder 2"/>
          <p:cNvSpPr>
            <a:spLocks noGrp="1"/>
          </p:cNvSpPr>
          <p:nvPr>
            <p:ph idx="1"/>
          </p:nvPr>
        </p:nvSpPr>
        <p:spPr/>
        <p:txBody>
          <a:bodyPr/>
          <a:lstStyle/>
          <a:p>
            <a:pPr>
              <a:buNone/>
            </a:pPr>
            <a:r>
              <a:rPr lang="en-US" b="1" dirty="0" smtClean="0"/>
              <a:t>Author, A. (Publication Year). Article title. </a:t>
            </a:r>
            <a:r>
              <a:rPr lang="en-US" b="1" i="1" dirty="0" smtClean="0"/>
              <a:t>Periodical </a:t>
            </a:r>
          </a:p>
          <a:p>
            <a:pPr>
              <a:buNone/>
            </a:pPr>
            <a:r>
              <a:rPr lang="en-US" b="1" i="1" dirty="0" smtClean="0"/>
              <a:t>Title</a:t>
            </a:r>
            <a:r>
              <a:rPr lang="en-US" b="1" dirty="0" smtClean="0"/>
              <a:t>, </a:t>
            </a:r>
            <a:r>
              <a:rPr lang="en-US" b="1" i="1" dirty="0" smtClean="0"/>
              <a:t>Volume</a:t>
            </a:r>
            <a:r>
              <a:rPr lang="en-US" b="1" dirty="0" smtClean="0"/>
              <a:t>(Issue), pp.-pp.</a:t>
            </a:r>
          </a:p>
          <a:p>
            <a:pPr>
              <a:buNone/>
            </a:pPr>
            <a:r>
              <a:rPr lang="en-US" dirty="0" err="1" smtClean="0"/>
              <a:t>Nevin</a:t>
            </a:r>
            <a:r>
              <a:rPr lang="en-US" dirty="0" smtClean="0"/>
              <a:t>, A. (1990). The changing of teacher education </a:t>
            </a:r>
          </a:p>
          <a:p>
            <a:pPr>
              <a:buNone/>
            </a:pPr>
            <a:r>
              <a:rPr lang="en-US" dirty="0" smtClean="0"/>
              <a:t>special education. </a:t>
            </a:r>
            <a:r>
              <a:rPr lang="en-US" i="1" dirty="0" smtClean="0"/>
              <a:t>Teacher Education and Special </a:t>
            </a:r>
          </a:p>
          <a:p>
            <a:pPr>
              <a:buNone/>
            </a:pPr>
            <a:r>
              <a:rPr lang="en-US" i="1" dirty="0" smtClean="0"/>
              <a:t>Education: The Journal of the Teacher Education </a:t>
            </a:r>
          </a:p>
          <a:p>
            <a:pPr>
              <a:buNone/>
            </a:pPr>
            <a:r>
              <a:rPr lang="en-US" i="1" dirty="0" smtClean="0"/>
              <a:t>Division of the Council for Exceptional Children</a:t>
            </a:r>
            <a:r>
              <a:rPr lang="en-US" dirty="0" smtClean="0"/>
              <a:t>, </a:t>
            </a:r>
            <a:r>
              <a:rPr lang="en-US" i="1" dirty="0" smtClean="0"/>
              <a:t>13</a:t>
            </a:r>
            <a:r>
              <a:rPr lang="en-US" dirty="0" smtClean="0"/>
              <a:t>(3-</a:t>
            </a:r>
          </a:p>
          <a:p>
            <a:pPr>
              <a:buNone/>
            </a:pPr>
            <a:r>
              <a:rPr lang="en-US" dirty="0" smtClean="0"/>
              <a:t>4), 147-148.</a:t>
            </a:r>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Journal Online</a:t>
            </a:r>
            <a:endParaRPr lang="en-US" dirty="0"/>
          </a:p>
        </p:txBody>
      </p:sp>
      <p:sp>
        <p:nvSpPr>
          <p:cNvPr id="3" name="Content Placeholder 2"/>
          <p:cNvSpPr>
            <a:spLocks noGrp="1"/>
          </p:cNvSpPr>
          <p:nvPr>
            <p:ph idx="1"/>
          </p:nvPr>
        </p:nvSpPr>
        <p:spPr/>
        <p:txBody>
          <a:bodyPr/>
          <a:lstStyle/>
          <a:p>
            <a:pPr>
              <a:buNone/>
            </a:pPr>
            <a:r>
              <a:rPr lang="en-US" b="1" dirty="0" smtClean="0"/>
              <a:t>Author, A. (Publication Year). Article title. </a:t>
            </a:r>
            <a:r>
              <a:rPr lang="en-US" b="1" i="1" dirty="0" smtClean="0"/>
              <a:t>Periodical </a:t>
            </a:r>
          </a:p>
          <a:p>
            <a:pPr>
              <a:buNone/>
            </a:pPr>
            <a:r>
              <a:rPr lang="en-US" b="1" i="1" dirty="0" smtClean="0"/>
              <a:t>Title</a:t>
            </a:r>
            <a:r>
              <a:rPr lang="en-US" b="1" dirty="0" smtClean="0"/>
              <a:t>, </a:t>
            </a:r>
            <a:r>
              <a:rPr lang="en-US" b="1" i="1" dirty="0" smtClean="0"/>
              <a:t>Volume</a:t>
            </a:r>
            <a:r>
              <a:rPr lang="en-US" b="1" dirty="0" smtClean="0"/>
              <a:t>(Issue), pp.-pp. DOI:XX.XXXXX or </a:t>
            </a:r>
          </a:p>
          <a:p>
            <a:pPr>
              <a:buNone/>
            </a:pPr>
            <a:r>
              <a:rPr lang="en-US" b="1" dirty="0" smtClean="0"/>
              <a:t>Retrieved from journal URL</a:t>
            </a:r>
          </a:p>
          <a:p>
            <a:pPr>
              <a:buNone/>
            </a:pPr>
            <a:r>
              <a:rPr lang="en-US" dirty="0" smtClean="0"/>
              <a:t>Jameson, J. (2013). E-Leadership in higher education: </a:t>
            </a:r>
          </a:p>
          <a:p>
            <a:pPr>
              <a:buNone/>
            </a:pPr>
            <a:r>
              <a:rPr lang="en-US" dirty="0" smtClean="0"/>
              <a:t>The fifth “age” of educational technology </a:t>
            </a:r>
          </a:p>
          <a:p>
            <a:pPr>
              <a:buNone/>
            </a:pPr>
            <a:r>
              <a:rPr lang="en-US" dirty="0" smtClean="0"/>
              <a:t>research.</a:t>
            </a:r>
            <a:r>
              <a:rPr lang="en-US" i="1" dirty="0" smtClean="0"/>
              <a:t> British Journal of Educational </a:t>
            </a:r>
          </a:p>
          <a:p>
            <a:pPr>
              <a:buNone/>
            </a:pPr>
            <a:r>
              <a:rPr lang="en-US" i="1" dirty="0" smtClean="0"/>
              <a:t>Technology</a:t>
            </a:r>
            <a:r>
              <a:rPr lang="en-US" dirty="0" smtClean="0"/>
              <a:t>, </a:t>
            </a:r>
            <a:r>
              <a:rPr lang="en-US" i="1" dirty="0" smtClean="0"/>
              <a:t>44</a:t>
            </a:r>
            <a:r>
              <a:rPr lang="en-US" dirty="0" smtClean="0"/>
              <a:t>(6), 889-915. DOI: 10.1111/bjet.12103</a:t>
            </a:r>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Book</a:t>
            </a:r>
            <a:endParaRPr lang="en-US" dirty="0"/>
          </a:p>
        </p:txBody>
      </p:sp>
      <p:sp>
        <p:nvSpPr>
          <p:cNvPr id="3" name="Content Placeholder 2"/>
          <p:cNvSpPr>
            <a:spLocks noGrp="1"/>
          </p:cNvSpPr>
          <p:nvPr>
            <p:ph idx="1"/>
          </p:nvPr>
        </p:nvSpPr>
        <p:spPr/>
        <p:txBody>
          <a:bodyPr/>
          <a:lstStyle/>
          <a:p>
            <a:pPr>
              <a:buNone/>
            </a:pPr>
            <a:r>
              <a:rPr lang="en-US" b="1" dirty="0" smtClean="0"/>
              <a:t>Author, A. (Year of Publication). </a:t>
            </a:r>
            <a:r>
              <a:rPr lang="en-US" b="1" i="1" dirty="0" smtClean="0"/>
              <a:t>Title of work</a:t>
            </a:r>
            <a:r>
              <a:rPr lang="en-US" b="1" dirty="0" smtClean="0"/>
              <a:t>. </a:t>
            </a:r>
          </a:p>
          <a:p>
            <a:pPr>
              <a:buNone/>
            </a:pPr>
            <a:r>
              <a:rPr lang="en-US" b="1" dirty="0" smtClean="0"/>
              <a:t>Publisher City, State: Publisher.</a:t>
            </a:r>
          </a:p>
          <a:p>
            <a:pPr>
              <a:buNone/>
            </a:pPr>
            <a:r>
              <a:rPr lang="en-US" dirty="0" smtClean="0"/>
              <a:t>Finney, J. (1970). </a:t>
            </a:r>
            <a:r>
              <a:rPr lang="en-US" i="1" dirty="0" smtClean="0"/>
              <a:t>Time and again</a:t>
            </a:r>
            <a:r>
              <a:rPr lang="en-US" dirty="0" smtClean="0"/>
              <a:t>. New York, NY: </a:t>
            </a:r>
          </a:p>
          <a:p>
            <a:pPr>
              <a:buNone/>
            </a:pPr>
            <a:r>
              <a:rPr lang="en-US" dirty="0" smtClean="0"/>
              <a:t>Simon and Schuster.</a:t>
            </a:r>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E-Book</a:t>
            </a:r>
            <a:endParaRPr lang="en-US" dirty="0"/>
          </a:p>
        </p:txBody>
      </p:sp>
      <p:sp>
        <p:nvSpPr>
          <p:cNvPr id="3" name="Content Placeholder 2"/>
          <p:cNvSpPr>
            <a:spLocks noGrp="1"/>
          </p:cNvSpPr>
          <p:nvPr>
            <p:ph idx="1"/>
          </p:nvPr>
        </p:nvSpPr>
        <p:spPr/>
        <p:txBody>
          <a:bodyPr/>
          <a:lstStyle/>
          <a:p>
            <a:pPr>
              <a:buNone/>
            </a:pPr>
            <a:r>
              <a:rPr lang="en-US" b="1" dirty="0" smtClean="0"/>
              <a:t>Author, A. (Year of Publication). </a:t>
            </a:r>
            <a:r>
              <a:rPr lang="en-US" b="1" i="1" dirty="0" smtClean="0"/>
              <a:t>Title of work</a:t>
            </a:r>
            <a:r>
              <a:rPr lang="en-US" b="1" dirty="0" smtClean="0"/>
              <a:t> [E-</a:t>
            </a:r>
          </a:p>
          <a:p>
            <a:pPr>
              <a:buNone/>
            </a:pPr>
            <a:r>
              <a:rPr lang="en-US" b="1" dirty="0" smtClean="0"/>
              <a:t>Reader Version]. Retrieved from http://xxxx or </a:t>
            </a:r>
          </a:p>
          <a:p>
            <a:pPr>
              <a:buNone/>
            </a:pPr>
            <a:r>
              <a:rPr lang="en-US" b="1" dirty="0" err="1" smtClean="0"/>
              <a:t>DOI:xxxx</a:t>
            </a:r>
            <a:endParaRPr lang="en-US" b="1" dirty="0" smtClean="0"/>
          </a:p>
          <a:p>
            <a:pPr>
              <a:buNone/>
            </a:pPr>
            <a:r>
              <a:rPr lang="en-US" dirty="0" smtClean="0"/>
              <a:t>Eggers, D. (2008). </a:t>
            </a:r>
            <a:r>
              <a:rPr lang="en-US" i="1" dirty="0" smtClean="0"/>
              <a:t>The circle</a:t>
            </a:r>
            <a:r>
              <a:rPr lang="en-US" dirty="0" smtClean="0"/>
              <a:t> [Kindle Version]. </a:t>
            </a:r>
          </a:p>
          <a:p>
            <a:pPr>
              <a:buNone/>
            </a:pPr>
            <a:r>
              <a:rPr lang="en-US" dirty="0" smtClean="0"/>
              <a:t>Retrieved from http://www.amazon.com/</a:t>
            </a:r>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Book Chapter</a:t>
            </a:r>
            <a:endParaRPr lang="en-US" dirty="0"/>
          </a:p>
        </p:txBody>
      </p:sp>
      <p:sp>
        <p:nvSpPr>
          <p:cNvPr id="3" name="Content Placeholder 2"/>
          <p:cNvSpPr>
            <a:spLocks noGrp="1"/>
          </p:cNvSpPr>
          <p:nvPr>
            <p:ph idx="1"/>
          </p:nvPr>
        </p:nvSpPr>
        <p:spPr/>
        <p:txBody>
          <a:bodyPr>
            <a:normAutofit fontScale="85000" lnSpcReduction="20000"/>
          </a:bodyPr>
          <a:lstStyle/>
          <a:p>
            <a:pPr>
              <a:buNone/>
            </a:pPr>
            <a:r>
              <a:rPr lang="en-US" b="1" dirty="0" smtClean="0"/>
              <a:t>Chapter author’s Last name, F. M. (Year published). Title </a:t>
            </a:r>
          </a:p>
          <a:p>
            <a:pPr>
              <a:buNone/>
            </a:pPr>
            <a:r>
              <a:rPr lang="en-US" b="1" dirty="0" smtClean="0"/>
              <a:t>of chapter. In F. M. Last name of Editor (Ed.), </a:t>
            </a:r>
            <a:r>
              <a:rPr lang="en-US" b="1" i="1" dirty="0" smtClean="0"/>
              <a:t>Title of </a:t>
            </a:r>
          </a:p>
          <a:p>
            <a:pPr>
              <a:buNone/>
            </a:pPr>
            <a:r>
              <a:rPr lang="en-US" b="1" i="1" dirty="0" smtClean="0"/>
              <a:t>book</a:t>
            </a:r>
            <a:r>
              <a:rPr lang="en-US" b="1" dirty="0" smtClean="0"/>
              <a:t> (p. x or pp. x-x). Location: Publisher. </a:t>
            </a:r>
          </a:p>
          <a:p>
            <a:pPr>
              <a:buNone/>
            </a:pPr>
            <a:r>
              <a:rPr lang="en-US" b="1" dirty="0" smtClean="0"/>
              <a:t>http://dx.doi.org/10.xxxx/xxxxxx or Retrieved from URL</a:t>
            </a:r>
          </a:p>
          <a:p>
            <a:pPr>
              <a:buNone/>
            </a:pPr>
            <a:r>
              <a:rPr lang="en-US" dirty="0" err="1" smtClean="0"/>
              <a:t>Longacre</a:t>
            </a:r>
            <a:r>
              <a:rPr lang="en-US" dirty="0" smtClean="0"/>
              <a:t>, W. A., &amp; Ayres, J. E. (1968). Archeological </a:t>
            </a:r>
          </a:p>
          <a:p>
            <a:pPr>
              <a:buNone/>
            </a:pPr>
            <a:r>
              <a:rPr lang="en-US" dirty="0" smtClean="0"/>
              <a:t>lessons from an Apache </a:t>
            </a:r>
            <a:r>
              <a:rPr lang="en-US" dirty="0" err="1" smtClean="0"/>
              <a:t>wickiup</a:t>
            </a:r>
            <a:r>
              <a:rPr lang="en-US" dirty="0" smtClean="0"/>
              <a:t>. In S. R. </a:t>
            </a:r>
            <a:r>
              <a:rPr lang="en-US" dirty="0" err="1" smtClean="0"/>
              <a:t>Binford</a:t>
            </a:r>
            <a:r>
              <a:rPr lang="en-US" dirty="0" smtClean="0"/>
              <a:t> &amp; L. R. </a:t>
            </a:r>
          </a:p>
          <a:p>
            <a:pPr>
              <a:buNone/>
            </a:pPr>
            <a:r>
              <a:rPr lang="en-US" dirty="0" err="1" smtClean="0"/>
              <a:t>Binford</a:t>
            </a:r>
            <a:r>
              <a:rPr lang="en-US" dirty="0" smtClean="0"/>
              <a:t> (Eds.), </a:t>
            </a:r>
            <a:r>
              <a:rPr lang="en-US" i="1" dirty="0" smtClean="0"/>
              <a:t>Archeology in cultural systems</a:t>
            </a:r>
            <a:r>
              <a:rPr lang="en-US" dirty="0" smtClean="0"/>
              <a:t> (pp. 151-</a:t>
            </a:r>
          </a:p>
          <a:p>
            <a:pPr>
              <a:buNone/>
            </a:pPr>
            <a:r>
              <a:rPr lang="en-US" dirty="0" smtClean="0"/>
              <a:t>160). Retrieved from </a:t>
            </a:r>
          </a:p>
          <a:p>
            <a:pPr>
              <a:buNone/>
            </a:pPr>
            <a:r>
              <a:rPr lang="en-US" dirty="0" smtClean="0"/>
              <a:t>https://books.google.com/books?id=vROM3JrrRa0C&amp;lpg</a:t>
            </a:r>
          </a:p>
          <a:p>
            <a:pPr>
              <a:buNone/>
            </a:pPr>
            <a:r>
              <a:rPr lang="en-US" dirty="0" smtClean="0"/>
              <a:t>=PP1&amp;dq=</a:t>
            </a:r>
            <a:r>
              <a:rPr lang="en-US" dirty="0" err="1" smtClean="0"/>
              <a:t>archeology&amp;pg</a:t>
            </a:r>
            <a:r>
              <a:rPr lang="en-US" dirty="0" smtClean="0"/>
              <a:t>=PR9#v=</a:t>
            </a:r>
            <a:r>
              <a:rPr lang="en-US" dirty="0" err="1" smtClean="0"/>
              <a:t>onepage&amp;q</a:t>
            </a:r>
            <a:r>
              <a:rPr lang="en-US" dirty="0" smtClean="0"/>
              <a:t>=</a:t>
            </a:r>
            <a:r>
              <a:rPr lang="en-US" dirty="0" err="1" smtClean="0"/>
              <a:t>archeolog</a:t>
            </a:r>
            <a:endParaRPr lang="en-US" dirty="0" smtClean="0"/>
          </a:p>
          <a:p>
            <a:pPr>
              <a:buNone/>
            </a:pPr>
            <a:r>
              <a:rPr lang="en-US" dirty="0" err="1" smtClean="0"/>
              <a:t>y&amp;f</a:t>
            </a:r>
            <a:r>
              <a:rPr lang="en-US" dirty="0" smtClean="0"/>
              <a:t>=false</a:t>
            </a:r>
          </a:p>
          <a:p>
            <a:pPr>
              <a:buNone/>
            </a:pPr>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Web Article (with author)</a:t>
            </a:r>
            <a:endParaRPr lang="en-US" dirty="0"/>
          </a:p>
        </p:txBody>
      </p:sp>
      <p:sp>
        <p:nvSpPr>
          <p:cNvPr id="3" name="Content Placeholder 2"/>
          <p:cNvSpPr>
            <a:spLocks noGrp="1"/>
          </p:cNvSpPr>
          <p:nvPr>
            <p:ph idx="1"/>
          </p:nvPr>
        </p:nvSpPr>
        <p:spPr/>
        <p:txBody>
          <a:bodyPr>
            <a:normAutofit/>
          </a:bodyPr>
          <a:lstStyle/>
          <a:p>
            <a:pPr>
              <a:buNone/>
            </a:pPr>
            <a:r>
              <a:rPr lang="en-US" b="1" dirty="0" smtClean="0"/>
              <a:t>Author, A. (Year, Month Date of Publication). Article </a:t>
            </a:r>
          </a:p>
          <a:p>
            <a:pPr>
              <a:buNone/>
            </a:pPr>
            <a:r>
              <a:rPr lang="en-US" b="1" dirty="0" smtClean="0"/>
              <a:t>title. Retrieved from URL</a:t>
            </a:r>
          </a:p>
          <a:p>
            <a:pPr>
              <a:buNone/>
            </a:pPr>
            <a:r>
              <a:rPr lang="en-US" dirty="0" smtClean="0"/>
              <a:t>Simmons, B. (2015, January 9). </a:t>
            </a:r>
            <a:r>
              <a:rPr lang="en-US" i="1" dirty="0" smtClean="0"/>
              <a:t>The tale of two </a:t>
            </a:r>
          </a:p>
          <a:p>
            <a:pPr>
              <a:buNone/>
            </a:pPr>
            <a:r>
              <a:rPr lang="en-US" i="1" dirty="0" err="1" smtClean="0"/>
              <a:t>Flaccos</a:t>
            </a:r>
            <a:r>
              <a:rPr lang="en-US" dirty="0" smtClean="0"/>
              <a:t>. Retrieved from </a:t>
            </a:r>
            <a:r>
              <a:rPr lang="en-US" dirty="0" smtClean="0">
                <a:hlinkClick r:id="rId2"/>
              </a:rPr>
              <a:t>http://grantland.com/the-</a:t>
            </a:r>
          </a:p>
          <a:p>
            <a:pPr>
              <a:buNone/>
            </a:pPr>
            <a:r>
              <a:rPr lang="en-US" dirty="0" smtClean="0">
                <a:hlinkClick r:id="rId2"/>
              </a:rPr>
              <a:t>triangle/the-tale-of-two-</a:t>
            </a:r>
            <a:r>
              <a:rPr lang="en-US" dirty="0" err="1" smtClean="0">
                <a:hlinkClick r:id="rId2"/>
              </a:rPr>
              <a:t>flaccos</a:t>
            </a:r>
            <a:r>
              <a:rPr lang="en-US" dirty="0" smtClean="0">
                <a:hlinkClick r:id="rId2"/>
              </a:rPr>
              <a:t>/</a:t>
            </a:r>
            <a:endParaRPr lang="en-US" dirty="0" smtClean="0"/>
          </a:p>
          <a:p>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5065" y="365126"/>
            <a:ext cx="7157935" cy="1325563"/>
          </a:xfrm>
        </p:spPr>
        <p:txBody>
          <a:bodyPr/>
          <a:lstStyle/>
          <a:p>
            <a:r>
              <a:rPr lang="en-US" dirty="0" smtClean="0"/>
              <a:t>Web Article (without author)</a:t>
            </a:r>
            <a:endParaRPr lang="en-US" dirty="0"/>
          </a:p>
        </p:txBody>
      </p:sp>
      <p:sp>
        <p:nvSpPr>
          <p:cNvPr id="3" name="Content Placeholder 2"/>
          <p:cNvSpPr>
            <a:spLocks noGrp="1"/>
          </p:cNvSpPr>
          <p:nvPr>
            <p:ph idx="1"/>
          </p:nvPr>
        </p:nvSpPr>
        <p:spPr/>
        <p:txBody>
          <a:bodyPr>
            <a:normAutofit/>
          </a:bodyPr>
          <a:lstStyle/>
          <a:p>
            <a:pPr>
              <a:buNone/>
            </a:pPr>
            <a:r>
              <a:rPr lang="en-US" b="1" dirty="0" smtClean="0"/>
              <a:t>Article title. (Year, Month Date of Publication). </a:t>
            </a:r>
          </a:p>
          <a:p>
            <a:pPr>
              <a:buNone/>
            </a:pPr>
            <a:r>
              <a:rPr lang="en-US" b="1" dirty="0" smtClean="0"/>
              <a:t>Retrieved from URL</a:t>
            </a:r>
          </a:p>
          <a:p>
            <a:pPr>
              <a:buNone/>
            </a:pPr>
            <a:r>
              <a:rPr lang="en-US" i="1" dirty="0" smtClean="0"/>
              <a:t>Teen posed as doctor at West Palm Beach hospital: </a:t>
            </a:r>
          </a:p>
          <a:p>
            <a:pPr>
              <a:buNone/>
            </a:pPr>
            <a:r>
              <a:rPr lang="en-US" i="1" dirty="0" smtClean="0"/>
              <a:t>police</a:t>
            </a:r>
            <a:r>
              <a:rPr lang="en-US" dirty="0" smtClean="0"/>
              <a:t>. (2015, January 16). Retrieved from </a:t>
            </a:r>
          </a:p>
          <a:p>
            <a:pPr>
              <a:buNone/>
            </a:pPr>
            <a:r>
              <a:rPr lang="en-US" dirty="0" smtClean="0"/>
              <a:t>http://www.nbcmiami.com/news/local/Teen-Posed-</a:t>
            </a:r>
          </a:p>
          <a:p>
            <a:pPr>
              <a:buNone/>
            </a:pPr>
            <a:r>
              <a:rPr lang="en-US" dirty="0" smtClean="0"/>
              <a:t>as-Doctor-at-West-Palm-Beach-Hospital-Police-</a:t>
            </a:r>
          </a:p>
          <a:p>
            <a:pPr>
              <a:buNone/>
            </a:pPr>
            <a:r>
              <a:rPr lang="en-US" dirty="0" smtClean="0"/>
              <a:t>288810831.html</a:t>
            </a:r>
          </a:p>
          <a:p>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5065" y="365126"/>
            <a:ext cx="7157935" cy="1325563"/>
          </a:xfrm>
        </p:spPr>
        <p:txBody>
          <a:bodyPr/>
          <a:lstStyle/>
          <a:p>
            <a:r>
              <a:rPr lang="en-US" dirty="0" err="1" smtClean="0"/>
              <a:t>Youtube</a:t>
            </a:r>
            <a:r>
              <a:rPr lang="en-US" dirty="0" smtClean="0"/>
              <a:t> Video</a:t>
            </a:r>
            <a:endParaRPr lang="en-US" dirty="0"/>
          </a:p>
        </p:txBody>
      </p:sp>
      <p:sp>
        <p:nvSpPr>
          <p:cNvPr id="3" name="Content Placeholder 2"/>
          <p:cNvSpPr>
            <a:spLocks noGrp="1"/>
          </p:cNvSpPr>
          <p:nvPr>
            <p:ph idx="1"/>
          </p:nvPr>
        </p:nvSpPr>
        <p:spPr/>
        <p:txBody>
          <a:bodyPr>
            <a:normAutofit/>
          </a:bodyPr>
          <a:lstStyle/>
          <a:p>
            <a:pPr>
              <a:buNone/>
            </a:pPr>
            <a:r>
              <a:rPr lang="en-US" b="1" dirty="0" smtClean="0"/>
              <a:t>Author, A. [screen name]. (Year, Month Date of </a:t>
            </a:r>
          </a:p>
          <a:p>
            <a:pPr>
              <a:buNone/>
            </a:pPr>
            <a:r>
              <a:rPr lang="en-US" b="1" dirty="0" smtClean="0"/>
              <a:t>Publication). </a:t>
            </a:r>
            <a:r>
              <a:rPr lang="en-US" b="1" i="1" dirty="0" smtClean="0"/>
              <a:t>Title of video</a:t>
            </a:r>
            <a:r>
              <a:rPr lang="en-US" b="1" dirty="0" smtClean="0"/>
              <a:t> [Video file]. Retrieved </a:t>
            </a:r>
          </a:p>
          <a:p>
            <a:pPr>
              <a:buNone/>
            </a:pPr>
            <a:r>
              <a:rPr lang="en-US" b="1" dirty="0" smtClean="0"/>
              <a:t>from URL</a:t>
            </a:r>
          </a:p>
          <a:p>
            <a:pPr>
              <a:buNone/>
            </a:pPr>
            <a:r>
              <a:rPr lang="en-US" dirty="0" smtClean="0"/>
              <a:t>Smith</a:t>
            </a:r>
            <a:r>
              <a:rPr lang="en-US" smtClean="0"/>
              <a:t>, </a:t>
            </a:r>
            <a:r>
              <a:rPr lang="id-ID" smtClean="0"/>
              <a:t>R</a:t>
            </a:r>
            <a:r>
              <a:rPr lang="en-US" smtClean="0"/>
              <a:t>. </a:t>
            </a:r>
            <a:r>
              <a:rPr lang="en-US" dirty="0" smtClean="0"/>
              <a:t>(2013, September 20). </a:t>
            </a:r>
            <a:r>
              <a:rPr lang="en-US" i="1" dirty="0" smtClean="0"/>
              <a:t>Favre to Moss!</a:t>
            </a:r>
            <a:r>
              <a:rPr lang="en-US" dirty="0" smtClean="0"/>
              <a:t>. </a:t>
            </a:r>
          </a:p>
          <a:p>
            <a:pPr>
              <a:buNone/>
            </a:pPr>
            <a:r>
              <a:rPr lang="en-US" dirty="0" smtClean="0"/>
              <a:t>[Video file]. Retrieved from </a:t>
            </a:r>
          </a:p>
          <a:p>
            <a:pPr>
              <a:buNone/>
            </a:pPr>
            <a:r>
              <a:rPr lang="en-US" dirty="0" smtClean="0"/>
              <a:t>https://www.youtube.com/watch?v=gOP_L6hBjn8</a:t>
            </a:r>
          </a:p>
          <a:p>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Personal Interview</a:t>
            </a:r>
            <a:endParaRPr lang="en-US" dirty="0"/>
          </a:p>
        </p:txBody>
      </p:sp>
      <p:sp>
        <p:nvSpPr>
          <p:cNvPr id="3" name="Content Placeholder 2"/>
          <p:cNvSpPr>
            <a:spLocks noGrp="1"/>
          </p:cNvSpPr>
          <p:nvPr>
            <p:ph idx="1"/>
          </p:nvPr>
        </p:nvSpPr>
        <p:spPr/>
        <p:txBody>
          <a:bodyPr/>
          <a:lstStyle/>
          <a:p>
            <a:pPr>
              <a:buNone/>
            </a:pPr>
            <a:r>
              <a:rPr lang="en-US" b="1" dirty="0" smtClean="0"/>
              <a:t>Author, A. (Year, Month Date). Interview type.</a:t>
            </a:r>
          </a:p>
          <a:p>
            <a:pPr>
              <a:buNone/>
            </a:pPr>
            <a:r>
              <a:rPr lang="en-US" dirty="0" smtClean="0"/>
              <a:t>Marino, B. (2014, October 18). Personal Interview.</a:t>
            </a:r>
          </a:p>
          <a:p>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Online Lecture</a:t>
            </a:r>
            <a:endParaRPr lang="en-US" dirty="0"/>
          </a:p>
        </p:txBody>
      </p:sp>
      <p:sp>
        <p:nvSpPr>
          <p:cNvPr id="3" name="Content Placeholder 2"/>
          <p:cNvSpPr>
            <a:spLocks noGrp="1"/>
          </p:cNvSpPr>
          <p:nvPr>
            <p:ph idx="1"/>
          </p:nvPr>
        </p:nvSpPr>
        <p:spPr/>
        <p:txBody>
          <a:bodyPr/>
          <a:lstStyle/>
          <a:p>
            <a:pPr>
              <a:buNone/>
            </a:pPr>
            <a:r>
              <a:rPr lang="en-US" b="1" dirty="0" smtClean="0"/>
              <a:t>Author, A. (Publication Year). Name or title of </a:t>
            </a:r>
          </a:p>
          <a:p>
            <a:pPr>
              <a:buNone/>
            </a:pPr>
            <a:r>
              <a:rPr lang="en-US" b="1" dirty="0" smtClean="0"/>
              <a:t>lecture [file format]. Retrieved from URL</a:t>
            </a:r>
          </a:p>
          <a:p>
            <a:pPr>
              <a:buNone/>
            </a:pPr>
            <a:r>
              <a:rPr lang="en-US" dirty="0" smtClean="0"/>
              <a:t>Saito, T. (2012). </a:t>
            </a:r>
            <a:r>
              <a:rPr lang="en-US" i="1" dirty="0" smtClean="0"/>
              <a:t>Technology and me: A personal </a:t>
            </a:r>
          </a:p>
          <a:p>
            <a:pPr>
              <a:buNone/>
            </a:pPr>
            <a:r>
              <a:rPr lang="en-US" i="1" dirty="0" smtClean="0"/>
              <a:t>timeline of educational technology </a:t>
            </a:r>
            <a:r>
              <a:rPr lang="en-US" dirty="0" smtClean="0"/>
              <a:t>[</a:t>
            </a:r>
            <a:r>
              <a:rPr lang="en-US" dirty="0" err="1" smtClean="0"/>
              <a:t>Powerpoint</a:t>
            </a:r>
            <a:r>
              <a:rPr lang="en-US" dirty="0" smtClean="0"/>
              <a:t> </a:t>
            </a:r>
          </a:p>
          <a:p>
            <a:pPr>
              <a:buNone/>
            </a:pPr>
            <a:r>
              <a:rPr lang="en-US" dirty="0" smtClean="0"/>
              <a:t>slides]. Retrieved from </a:t>
            </a:r>
          </a:p>
          <a:p>
            <a:pPr>
              <a:buNone/>
            </a:pPr>
            <a:r>
              <a:rPr lang="en-US" dirty="0" smtClean="0"/>
              <a:t>http://www.slideshare.net/Bclari25/educational-</a:t>
            </a:r>
          </a:p>
          <a:p>
            <a:pPr>
              <a:buNone/>
            </a:pPr>
            <a:r>
              <a:rPr lang="en-US" dirty="0" smtClean="0"/>
              <a:t>technology-</a:t>
            </a:r>
            <a:r>
              <a:rPr lang="en-US" dirty="0" err="1" smtClean="0"/>
              <a:t>ppt</a:t>
            </a:r>
            <a:endParaRPr lang="en-US" dirty="0" smtClean="0"/>
          </a:p>
          <a:p>
            <a:endParaRPr 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Encyclopedia</a:t>
            </a:r>
            <a:endParaRPr lang="en-US" dirty="0"/>
          </a:p>
        </p:txBody>
      </p:sp>
      <p:sp>
        <p:nvSpPr>
          <p:cNvPr id="3" name="Content Placeholder 2"/>
          <p:cNvSpPr>
            <a:spLocks noGrp="1"/>
          </p:cNvSpPr>
          <p:nvPr>
            <p:ph idx="1"/>
          </p:nvPr>
        </p:nvSpPr>
        <p:spPr/>
        <p:txBody>
          <a:bodyPr/>
          <a:lstStyle/>
          <a:p>
            <a:pPr>
              <a:buNone/>
            </a:pPr>
            <a:r>
              <a:rPr lang="en-US" b="1" dirty="0" smtClean="0"/>
              <a:t>Author, A. (Publication Year). Entry title. </a:t>
            </a:r>
          </a:p>
          <a:p>
            <a:pPr>
              <a:buNone/>
            </a:pPr>
            <a:r>
              <a:rPr lang="en-US" b="1" dirty="0" smtClean="0"/>
              <a:t>In </a:t>
            </a:r>
            <a:r>
              <a:rPr lang="en-US" b="1" i="1" dirty="0" smtClean="0"/>
              <a:t>Encyclopedia title</a:t>
            </a:r>
            <a:r>
              <a:rPr lang="en-US" b="1" dirty="0" smtClean="0"/>
              <a:t>, (Vol. XX, pp. XX). City, State of </a:t>
            </a:r>
          </a:p>
          <a:p>
            <a:pPr>
              <a:buNone/>
            </a:pPr>
            <a:r>
              <a:rPr lang="en-US" b="1" dirty="0" smtClean="0"/>
              <a:t>publication: Publisher.</a:t>
            </a:r>
          </a:p>
          <a:p>
            <a:pPr>
              <a:buNone/>
            </a:pPr>
            <a:r>
              <a:rPr lang="en-US" dirty="0" err="1" smtClean="0"/>
              <a:t>Kammen</a:t>
            </a:r>
            <a:r>
              <a:rPr lang="en-US" dirty="0" smtClean="0"/>
              <a:t>, C., &amp; Wilson, A.H. (2012). Monuments. </a:t>
            </a:r>
          </a:p>
          <a:p>
            <a:pPr>
              <a:buNone/>
            </a:pPr>
            <a:r>
              <a:rPr lang="en-US" dirty="0" smtClean="0"/>
              <a:t>In </a:t>
            </a:r>
            <a:r>
              <a:rPr lang="en-US" i="1" dirty="0" smtClean="0"/>
              <a:t>Encyclopedia of local history</a:t>
            </a:r>
            <a:r>
              <a:rPr lang="en-US" dirty="0" smtClean="0"/>
              <a:t>. (pp. 363-364). </a:t>
            </a:r>
          </a:p>
          <a:p>
            <a:pPr>
              <a:buNone/>
            </a:pPr>
            <a:r>
              <a:rPr lang="en-US" dirty="0" smtClean="0"/>
              <a:t>Lanham, MD: </a:t>
            </a:r>
            <a:r>
              <a:rPr lang="en-US" dirty="0" err="1" smtClean="0"/>
              <a:t>AltaMira</a:t>
            </a:r>
            <a:r>
              <a:rPr lang="en-US" dirty="0" smtClean="0"/>
              <a:t> Press.</a:t>
            </a:r>
          </a:p>
          <a:p>
            <a:endParaRPr lang="en-US"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In-text Citation</a:t>
            </a:r>
            <a:endParaRPr lang="en-US" dirty="0"/>
          </a:p>
        </p:txBody>
      </p:sp>
      <p:sp>
        <p:nvSpPr>
          <p:cNvPr id="3" name="Content Placeholder 2"/>
          <p:cNvSpPr>
            <a:spLocks noGrp="1"/>
          </p:cNvSpPr>
          <p:nvPr>
            <p:ph idx="1"/>
          </p:nvPr>
        </p:nvSpPr>
        <p:spPr/>
        <p:txBody>
          <a:bodyPr>
            <a:normAutofit fontScale="92500" lnSpcReduction="20000"/>
          </a:bodyPr>
          <a:lstStyle/>
          <a:p>
            <a:pPr>
              <a:buNone/>
            </a:pPr>
            <a:r>
              <a:rPr lang="en-US" dirty="0" smtClean="0"/>
              <a:t>Format : </a:t>
            </a:r>
          </a:p>
          <a:p>
            <a:r>
              <a:rPr lang="en-US" dirty="0" smtClean="0"/>
              <a:t>(Author’s last name, year)</a:t>
            </a:r>
          </a:p>
          <a:p>
            <a:r>
              <a:rPr lang="en-US" dirty="0" smtClean="0"/>
              <a:t>(year) </a:t>
            </a:r>
            <a:r>
              <a:rPr lang="en-US" dirty="0" err="1" smtClean="0"/>
              <a:t>jika</a:t>
            </a:r>
            <a:r>
              <a:rPr lang="en-US" dirty="0" smtClean="0"/>
              <a:t> </a:t>
            </a:r>
            <a:r>
              <a:rPr lang="en-US" dirty="0" err="1" smtClean="0"/>
              <a:t>nama</a:t>
            </a:r>
            <a:r>
              <a:rPr lang="en-US" dirty="0" smtClean="0"/>
              <a:t> author </a:t>
            </a:r>
            <a:r>
              <a:rPr lang="en-US" dirty="0" err="1" smtClean="0"/>
              <a:t>sudah</a:t>
            </a:r>
            <a:r>
              <a:rPr lang="en-US" dirty="0" smtClean="0"/>
              <a:t> </a:t>
            </a:r>
            <a:r>
              <a:rPr lang="en-US" dirty="0" err="1" smtClean="0"/>
              <a:t>tercantum</a:t>
            </a:r>
            <a:r>
              <a:rPr lang="en-US" dirty="0" smtClean="0"/>
              <a:t> </a:t>
            </a:r>
            <a:r>
              <a:rPr lang="en-US" dirty="0" err="1" smtClean="0"/>
              <a:t>dalam</a:t>
            </a:r>
            <a:r>
              <a:rPr lang="en-US" dirty="0" smtClean="0"/>
              <a:t> </a:t>
            </a:r>
          </a:p>
          <a:p>
            <a:pPr>
              <a:buNone/>
            </a:pPr>
            <a:r>
              <a:rPr lang="en-US" dirty="0" smtClean="0"/>
              <a:t>	</a:t>
            </a:r>
            <a:r>
              <a:rPr lang="en-US" dirty="0" err="1" smtClean="0"/>
              <a:t>narasi</a:t>
            </a:r>
            <a:r>
              <a:rPr lang="en-US" dirty="0" smtClean="0"/>
              <a:t>.</a:t>
            </a:r>
          </a:p>
          <a:p>
            <a:r>
              <a:rPr lang="en-US" dirty="0" err="1" smtClean="0"/>
              <a:t>Contoh</a:t>
            </a:r>
            <a:r>
              <a:rPr lang="en-US" dirty="0" smtClean="0"/>
              <a:t> :</a:t>
            </a:r>
          </a:p>
          <a:p>
            <a:pPr>
              <a:buNone/>
            </a:pPr>
            <a:r>
              <a:rPr lang="en-US" dirty="0" smtClean="0"/>
              <a:t>Role-play can help children learn techniques for </a:t>
            </a:r>
          </a:p>
          <a:p>
            <a:pPr>
              <a:buNone/>
            </a:pPr>
            <a:r>
              <a:rPr lang="en-US" dirty="0" smtClean="0"/>
              <a:t>coping with bullying (</a:t>
            </a:r>
            <a:r>
              <a:rPr lang="en-US" dirty="0" err="1" smtClean="0"/>
              <a:t>Kraiser</a:t>
            </a:r>
            <a:r>
              <a:rPr lang="en-US" dirty="0" smtClean="0"/>
              <a:t>, 2011).</a:t>
            </a:r>
          </a:p>
          <a:p>
            <a:pPr>
              <a:buNone/>
            </a:pPr>
            <a:r>
              <a:rPr lang="en-US" dirty="0" err="1" smtClean="0"/>
              <a:t>Gass</a:t>
            </a:r>
            <a:r>
              <a:rPr lang="en-US" dirty="0" smtClean="0"/>
              <a:t> and </a:t>
            </a:r>
            <a:r>
              <a:rPr lang="en-US" dirty="0" err="1" smtClean="0"/>
              <a:t>Varonis</a:t>
            </a:r>
            <a:r>
              <a:rPr lang="en-US" dirty="0" smtClean="0"/>
              <a:t> (1984) found that the most important </a:t>
            </a:r>
          </a:p>
          <a:p>
            <a:pPr>
              <a:buNone/>
            </a:pPr>
            <a:r>
              <a:rPr lang="en-US" dirty="0" smtClean="0"/>
              <a:t>element in comprehending non-native speech is </a:t>
            </a:r>
          </a:p>
          <a:p>
            <a:pPr>
              <a:buNone/>
            </a:pPr>
            <a:r>
              <a:rPr lang="en-US" dirty="0" smtClean="0"/>
              <a:t>familiarity with the topic.</a:t>
            </a:r>
            <a:endParaRPr 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Group Author</a:t>
            </a:r>
            <a:endParaRPr lang="en-US" dirty="0"/>
          </a:p>
        </p:txBody>
      </p:sp>
      <p:sp>
        <p:nvSpPr>
          <p:cNvPr id="3" name="Content Placeholder 2"/>
          <p:cNvSpPr>
            <a:spLocks noGrp="1"/>
          </p:cNvSpPr>
          <p:nvPr>
            <p:ph idx="1"/>
          </p:nvPr>
        </p:nvSpPr>
        <p:spPr/>
        <p:txBody>
          <a:bodyPr/>
          <a:lstStyle/>
          <a:p>
            <a:r>
              <a:rPr lang="en-US" b="1" dirty="0" err="1" smtClean="0"/>
              <a:t>Pertama</a:t>
            </a:r>
            <a:r>
              <a:rPr lang="en-US" b="1" dirty="0" smtClean="0"/>
              <a:t>: </a:t>
            </a:r>
            <a:r>
              <a:rPr lang="en-US" dirty="0" smtClean="0"/>
              <a:t>(American Psychological Association </a:t>
            </a:r>
          </a:p>
          <a:p>
            <a:pPr>
              <a:buNone/>
            </a:pPr>
            <a:r>
              <a:rPr lang="en-US" dirty="0" smtClean="0"/>
              <a:t>	[APA], 2015)</a:t>
            </a:r>
          </a:p>
          <a:p>
            <a:r>
              <a:rPr lang="en-US" b="1" dirty="0" err="1" smtClean="0"/>
              <a:t>Selanjutnya</a:t>
            </a:r>
            <a:r>
              <a:rPr lang="en-US" b="1" dirty="0" smtClean="0"/>
              <a:t>:</a:t>
            </a:r>
            <a:r>
              <a:rPr lang="en-US" dirty="0" smtClean="0"/>
              <a:t> (APA, 2015) </a:t>
            </a:r>
            <a:br>
              <a:rPr lang="en-US" dirty="0" smtClean="0"/>
            </a:br>
            <a:endParaRPr lang="en-US"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Multiple Author</a:t>
            </a:r>
            <a:endParaRPr lang="en-US" dirty="0"/>
          </a:p>
        </p:txBody>
      </p:sp>
      <p:sp>
        <p:nvSpPr>
          <p:cNvPr id="3" name="Content Placeholder 2"/>
          <p:cNvSpPr>
            <a:spLocks noGrp="1"/>
          </p:cNvSpPr>
          <p:nvPr>
            <p:ph idx="1"/>
          </p:nvPr>
        </p:nvSpPr>
        <p:spPr/>
        <p:txBody>
          <a:bodyPr/>
          <a:lstStyle/>
          <a:p>
            <a:r>
              <a:rPr lang="en-US" dirty="0" smtClean="0"/>
              <a:t>2 Authors</a:t>
            </a:r>
          </a:p>
          <a:p>
            <a:pPr>
              <a:buNone/>
            </a:pPr>
            <a:r>
              <a:rPr lang="en-US" dirty="0" smtClean="0"/>
              <a:t>(</a:t>
            </a:r>
            <a:r>
              <a:rPr lang="en-US" dirty="0" err="1" smtClean="0"/>
              <a:t>Gass</a:t>
            </a:r>
            <a:r>
              <a:rPr lang="en-US" dirty="0" smtClean="0"/>
              <a:t> &amp; </a:t>
            </a:r>
            <a:r>
              <a:rPr lang="en-US" dirty="0" err="1" smtClean="0"/>
              <a:t>Varonis</a:t>
            </a:r>
            <a:r>
              <a:rPr lang="en-US" dirty="0" smtClean="0"/>
              <a:t>, 1984)</a:t>
            </a:r>
          </a:p>
          <a:p>
            <a:r>
              <a:rPr lang="en-US" dirty="0" smtClean="0"/>
              <a:t>3-5 Authors</a:t>
            </a:r>
          </a:p>
          <a:p>
            <a:pPr>
              <a:buNone/>
            </a:pPr>
            <a:r>
              <a:rPr lang="fr-FR" b="1" dirty="0" err="1" smtClean="0"/>
              <a:t>Pertama</a:t>
            </a:r>
            <a:r>
              <a:rPr lang="fr-FR" b="1" dirty="0" smtClean="0"/>
              <a:t>:</a:t>
            </a:r>
            <a:r>
              <a:rPr lang="fr-FR" dirty="0" smtClean="0"/>
              <a:t> (Tremblay, Richer, Lachance, &amp; Cote, 2010)</a:t>
            </a:r>
          </a:p>
          <a:p>
            <a:pPr>
              <a:buNone/>
            </a:pPr>
            <a:r>
              <a:rPr lang="fr-FR" b="1" dirty="0" err="1" smtClean="0"/>
              <a:t>Selanjutnya</a:t>
            </a:r>
            <a:r>
              <a:rPr lang="fr-FR" b="1" dirty="0" smtClean="0"/>
              <a:t>:</a:t>
            </a:r>
            <a:r>
              <a:rPr lang="fr-FR" dirty="0" smtClean="0"/>
              <a:t> (Tremblay et al., 2010)</a:t>
            </a:r>
            <a:endParaRPr lang="en-US" dirty="0" smtClean="0"/>
          </a:p>
          <a:p>
            <a:r>
              <a:rPr lang="en-US" dirty="0" smtClean="0"/>
              <a:t>&gt;= 6 Authors</a:t>
            </a:r>
          </a:p>
          <a:p>
            <a:pPr>
              <a:buNone/>
            </a:pPr>
            <a:r>
              <a:rPr lang="en-US" dirty="0" smtClean="0"/>
              <a:t>(Norris-</a:t>
            </a:r>
            <a:r>
              <a:rPr lang="en-US" dirty="0" err="1" smtClean="0"/>
              <a:t>Shortle</a:t>
            </a:r>
            <a:r>
              <a:rPr lang="en-US" dirty="0" smtClean="0"/>
              <a:t> et al., 2006)</a:t>
            </a:r>
            <a:endParaRPr lang="en-US"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Multiple Works</a:t>
            </a:r>
            <a:endParaRPr lang="en-US" dirty="0"/>
          </a:p>
        </p:txBody>
      </p:sp>
      <p:sp>
        <p:nvSpPr>
          <p:cNvPr id="3" name="Content Placeholder 2"/>
          <p:cNvSpPr>
            <a:spLocks noGrp="1"/>
          </p:cNvSpPr>
          <p:nvPr>
            <p:ph idx="1"/>
          </p:nvPr>
        </p:nvSpPr>
        <p:spPr/>
        <p:txBody>
          <a:bodyPr/>
          <a:lstStyle/>
          <a:p>
            <a:r>
              <a:rPr lang="en-US" dirty="0" smtClean="0"/>
              <a:t>Research shows that listening to a particular accent improves comprehension of accented speech in general (</a:t>
            </a:r>
            <a:r>
              <a:rPr lang="en-US" dirty="0" err="1" smtClean="0"/>
              <a:t>Gass</a:t>
            </a:r>
            <a:r>
              <a:rPr lang="en-US" dirty="0" smtClean="0"/>
              <a:t> &amp; </a:t>
            </a:r>
            <a:r>
              <a:rPr lang="en-US" dirty="0" err="1" smtClean="0"/>
              <a:t>Varonis</a:t>
            </a:r>
            <a:r>
              <a:rPr lang="en-US" dirty="0" smtClean="0"/>
              <a:t>, 1984; </a:t>
            </a:r>
            <a:r>
              <a:rPr lang="en-US" dirty="0" err="1" smtClean="0"/>
              <a:t>Krech</a:t>
            </a:r>
            <a:r>
              <a:rPr lang="en-US" dirty="0" smtClean="0"/>
              <a:t> Thomas, 2004).</a:t>
            </a:r>
            <a:endParaRPr lang="en-US"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Incomplete detail</a:t>
            </a:r>
            <a:endParaRPr lang="en-US" dirty="0"/>
          </a:p>
        </p:txBody>
      </p:sp>
      <p:sp>
        <p:nvSpPr>
          <p:cNvPr id="3" name="Content Placeholder 2"/>
          <p:cNvSpPr>
            <a:spLocks noGrp="1"/>
          </p:cNvSpPr>
          <p:nvPr>
            <p:ph idx="1"/>
          </p:nvPr>
        </p:nvSpPr>
        <p:spPr/>
        <p:txBody>
          <a:bodyPr/>
          <a:lstStyle/>
          <a:p>
            <a:r>
              <a:rPr lang="en-US" dirty="0" smtClean="0"/>
              <a:t>No author :</a:t>
            </a:r>
            <a:br>
              <a:rPr lang="en-US" dirty="0" smtClean="0"/>
            </a:br>
            <a:r>
              <a:rPr lang="en-US" dirty="0" smtClean="0"/>
              <a:t>The term </a:t>
            </a:r>
            <a:r>
              <a:rPr lang="en-US" dirty="0" err="1" smtClean="0"/>
              <a:t>Nittany</a:t>
            </a:r>
            <a:r>
              <a:rPr lang="en-US" dirty="0" smtClean="0"/>
              <a:t> Lion was coined by Penn State football player Joe Mason in 1904 (All things </a:t>
            </a:r>
            <a:r>
              <a:rPr lang="en-US" dirty="0" err="1" smtClean="0"/>
              <a:t>Nittany</a:t>
            </a:r>
            <a:r>
              <a:rPr lang="en-US" dirty="0" smtClean="0"/>
              <a:t>, 2006).</a:t>
            </a:r>
          </a:p>
          <a:p>
            <a:r>
              <a:rPr lang="en-US" dirty="0" smtClean="0"/>
              <a:t>No date :</a:t>
            </a:r>
          </a:p>
          <a:p>
            <a:pPr>
              <a:buNone/>
            </a:pPr>
            <a:r>
              <a:rPr lang="en-US" dirty="0" smtClean="0"/>
              <a:t>	Establishing regular routines, such as exercise, can help survivors of disasters recover from trauma (American Psychological Association [APA], </a:t>
            </a:r>
            <a:r>
              <a:rPr lang="en-US" dirty="0" err="1" smtClean="0"/>
              <a:t>n.d</a:t>
            </a:r>
            <a:r>
              <a:rPr lang="en-US" dirty="0" smtClean="0"/>
              <a:t>.).</a:t>
            </a:r>
            <a:br>
              <a:rPr lang="en-US" dirty="0" smtClean="0"/>
            </a:br>
            <a:endParaRPr lang="en-US"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Direct Quote</a:t>
            </a:r>
            <a:endParaRPr lang="en-US" dirty="0"/>
          </a:p>
        </p:txBody>
      </p:sp>
      <p:sp>
        <p:nvSpPr>
          <p:cNvPr id="3" name="Content Placeholder 2"/>
          <p:cNvSpPr>
            <a:spLocks noGrp="1"/>
          </p:cNvSpPr>
          <p:nvPr>
            <p:ph idx="1"/>
          </p:nvPr>
        </p:nvSpPr>
        <p:spPr/>
        <p:txBody>
          <a:bodyPr>
            <a:normAutofit fontScale="70000" lnSpcReduction="20000"/>
          </a:bodyPr>
          <a:lstStyle/>
          <a:p>
            <a:r>
              <a:rPr lang="en-US" dirty="0" smtClean="0"/>
              <a:t>One study found that “the listener's familiarity with the topic of discourse greatly facilitates the interpretation of the entire message” (</a:t>
            </a:r>
            <a:r>
              <a:rPr lang="en-US" dirty="0" err="1" smtClean="0"/>
              <a:t>Gass</a:t>
            </a:r>
            <a:r>
              <a:rPr lang="en-US" dirty="0" smtClean="0"/>
              <a:t> &amp; </a:t>
            </a:r>
            <a:r>
              <a:rPr lang="en-US" dirty="0" err="1" smtClean="0"/>
              <a:t>Varonis</a:t>
            </a:r>
            <a:r>
              <a:rPr lang="en-US" dirty="0" smtClean="0"/>
              <a:t>, 1984, p. 85).</a:t>
            </a:r>
          </a:p>
          <a:p>
            <a:r>
              <a:rPr lang="en-US" dirty="0" err="1" smtClean="0"/>
              <a:t>Gass</a:t>
            </a:r>
            <a:r>
              <a:rPr lang="en-US" dirty="0" smtClean="0"/>
              <a:t> and </a:t>
            </a:r>
            <a:r>
              <a:rPr lang="en-US" dirty="0" err="1" smtClean="0"/>
              <a:t>Varonis</a:t>
            </a:r>
            <a:r>
              <a:rPr lang="en-US" dirty="0" smtClean="0"/>
              <a:t> (1984) found that “the listener’s familiarity with the topic of discourse greatly facilitates the interpretation of the entire message” (p. 85).</a:t>
            </a:r>
          </a:p>
          <a:p>
            <a:r>
              <a:rPr lang="en-US" b="1" dirty="0" err="1" smtClean="0"/>
              <a:t>Jika</a:t>
            </a:r>
            <a:r>
              <a:rPr lang="en-US" b="1" dirty="0" smtClean="0"/>
              <a:t> </a:t>
            </a:r>
            <a:r>
              <a:rPr lang="en-US" b="1" dirty="0" err="1" smtClean="0"/>
              <a:t>lebih</a:t>
            </a:r>
            <a:r>
              <a:rPr lang="en-US" b="1" dirty="0" smtClean="0"/>
              <a:t> </a:t>
            </a:r>
            <a:r>
              <a:rPr lang="en-US" b="1" dirty="0" err="1" smtClean="0"/>
              <a:t>dari</a:t>
            </a:r>
            <a:r>
              <a:rPr lang="en-US" b="1" dirty="0" smtClean="0"/>
              <a:t> 40 </a:t>
            </a:r>
            <a:r>
              <a:rPr lang="en-US" b="1" dirty="0" err="1" smtClean="0"/>
              <a:t>kata</a:t>
            </a:r>
            <a:r>
              <a:rPr lang="en-US" b="1" dirty="0" smtClean="0"/>
              <a:t>, </a:t>
            </a:r>
            <a:r>
              <a:rPr lang="en-US" b="1" dirty="0" err="1" smtClean="0"/>
              <a:t>letakkan</a:t>
            </a:r>
            <a:r>
              <a:rPr lang="en-US" b="1" dirty="0" smtClean="0"/>
              <a:t> </a:t>
            </a:r>
            <a:r>
              <a:rPr lang="en-US" b="1" dirty="0" err="1" smtClean="0"/>
              <a:t>dalam</a:t>
            </a:r>
            <a:r>
              <a:rPr lang="en-US" b="1" dirty="0" smtClean="0"/>
              <a:t> </a:t>
            </a:r>
            <a:r>
              <a:rPr lang="en-US" b="1" dirty="0" err="1" smtClean="0"/>
              <a:t>blok</a:t>
            </a:r>
            <a:r>
              <a:rPr lang="en-US" b="1" dirty="0" smtClean="0"/>
              <a:t> </a:t>
            </a:r>
            <a:r>
              <a:rPr lang="en-US" b="1" dirty="0" err="1" smtClean="0"/>
              <a:t>khusus</a:t>
            </a:r>
            <a:r>
              <a:rPr lang="en-US" b="1" dirty="0" smtClean="0"/>
              <a:t> </a:t>
            </a:r>
            <a:r>
              <a:rPr lang="en-US" b="1" dirty="0" err="1" smtClean="0"/>
              <a:t>dengan</a:t>
            </a:r>
            <a:r>
              <a:rPr lang="en-US" b="1" dirty="0" smtClean="0"/>
              <a:t> </a:t>
            </a:r>
            <a:r>
              <a:rPr lang="en-US" b="1" dirty="0" err="1" smtClean="0"/>
              <a:t>indentasi</a:t>
            </a:r>
            <a:r>
              <a:rPr lang="en-US" dirty="0" smtClean="0"/>
              <a:t>:</a:t>
            </a:r>
          </a:p>
          <a:p>
            <a:pPr>
              <a:buNone/>
            </a:pPr>
            <a:r>
              <a:rPr lang="en-US" dirty="0" smtClean="0"/>
              <a:t>		This suggests that familiarity with nonnative speech in </a:t>
            </a:r>
          </a:p>
          <a:p>
            <a:pPr>
              <a:buNone/>
            </a:pPr>
            <a:r>
              <a:rPr lang="en-US" dirty="0" smtClean="0"/>
              <a:t>		general, although it is clearly not as important a variable </a:t>
            </a:r>
          </a:p>
          <a:p>
            <a:pPr>
              <a:buNone/>
            </a:pPr>
            <a:r>
              <a:rPr lang="en-US" dirty="0" smtClean="0"/>
              <a:t>		as topic familiarity, may indeed have some effect. That is, </a:t>
            </a:r>
          </a:p>
          <a:p>
            <a:pPr>
              <a:buNone/>
            </a:pPr>
            <a:r>
              <a:rPr lang="en-US" dirty="0" smtClean="0"/>
              <a:t>		prior experience with nonnative speech, such as that gained </a:t>
            </a:r>
          </a:p>
          <a:p>
            <a:pPr>
              <a:buNone/>
            </a:pPr>
            <a:r>
              <a:rPr lang="en-US" dirty="0" smtClean="0"/>
              <a:t>		by listening to the reading, facilitates comprehension. (</a:t>
            </a:r>
            <a:r>
              <a:rPr lang="en-US" dirty="0" err="1" smtClean="0"/>
              <a:t>Gass</a:t>
            </a:r>
            <a:r>
              <a:rPr lang="en-US" dirty="0" smtClean="0"/>
              <a:t> &amp; </a:t>
            </a:r>
          </a:p>
          <a:p>
            <a:pPr>
              <a:buNone/>
            </a:pPr>
            <a:r>
              <a:rPr lang="en-US" dirty="0" smtClean="0"/>
              <a:t>		</a:t>
            </a:r>
            <a:r>
              <a:rPr lang="en-US" dirty="0" err="1" smtClean="0"/>
              <a:t>Varonis</a:t>
            </a:r>
            <a:r>
              <a:rPr lang="en-US" dirty="0" smtClean="0"/>
              <a:t>, 1984, p. 77)</a:t>
            </a:r>
          </a:p>
          <a:p>
            <a:endParaRPr lang="en-US"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dirty="0" smtClean="0"/>
              <a:t>Paraphrase</a:t>
            </a:r>
            <a:endParaRPr lang="id-ID" dirty="0"/>
          </a:p>
        </p:txBody>
      </p:sp>
      <p:sp>
        <p:nvSpPr>
          <p:cNvPr id="3" name="Content Placeholder 2"/>
          <p:cNvSpPr>
            <a:spLocks noGrp="1"/>
          </p:cNvSpPr>
          <p:nvPr>
            <p:ph idx="1"/>
          </p:nvPr>
        </p:nvSpPr>
        <p:spPr/>
        <p:txBody>
          <a:bodyPr>
            <a:normAutofit lnSpcReduction="10000"/>
          </a:bodyPr>
          <a:lstStyle/>
          <a:p>
            <a:pPr marL="514350" indent="-514350">
              <a:buAutoNum type="arabicPeriod"/>
            </a:pPr>
            <a:r>
              <a:rPr lang="id-ID" dirty="0" smtClean="0"/>
              <a:t>Mengerti isi materi dari sumber pustaka</a:t>
            </a:r>
          </a:p>
          <a:p>
            <a:pPr marL="514350" indent="-514350">
              <a:buAutoNum type="arabicPeriod"/>
            </a:pPr>
            <a:r>
              <a:rPr lang="id-ID" dirty="0" smtClean="0"/>
              <a:t>Pilih bagian dari sumber pustaka yang akan dikutip</a:t>
            </a:r>
          </a:p>
          <a:p>
            <a:pPr marL="514350" indent="-514350">
              <a:buAutoNum type="arabicPeriod"/>
            </a:pPr>
            <a:r>
              <a:rPr lang="id-ID" dirty="0" smtClean="0"/>
              <a:t>Tulis pokok-pokok pikiran yang akan dijabarkan (ide dasar yang akan didukung dari sumber pustaka yang akan dikutip)</a:t>
            </a:r>
          </a:p>
          <a:p>
            <a:pPr marL="514350" indent="-514350">
              <a:buAutoNum type="arabicPeriod"/>
            </a:pPr>
            <a:r>
              <a:rPr lang="id-ID" dirty="0" smtClean="0"/>
              <a:t>Tutup sumber pustaka yang akan dikutip</a:t>
            </a:r>
          </a:p>
          <a:p>
            <a:pPr marL="514350" indent="-514350">
              <a:buAutoNum type="arabicPeriod"/>
            </a:pPr>
            <a:r>
              <a:rPr lang="id-ID" dirty="0" smtClean="0"/>
              <a:t>Pilih kata-kata inti yang dapat dipakai untuk menyusun kalimat yang dapat menjabarkan ide sesuai sumber yang dikutip</a:t>
            </a:r>
          </a:p>
          <a:p>
            <a:pPr marL="514350" indent="-514350">
              <a:buNone/>
            </a:pPr>
            <a:endParaRPr lang="id-ID"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dirty="0" smtClean="0"/>
              <a:t>Paraphrase</a:t>
            </a:r>
            <a:endParaRPr lang="id-ID" dirty="0"/>
          </a:p>
        </p:txBody>
      </p:sp>
      <p:sp>
        <p:nvSpPr>
          <p:cNvPr id="3" name="Content Placeholder 2"/>
          <p:cNvSpPr>
            <a:spLocks noGrp="1"/>
          </p:cNvSpPr>
          <p:nvPr>
            <p:ph idx="1"/>
          </p:nvPr>
        </p:nvSpPr>
        <p:spPr/>
        <p:txBody>
          <a:bodyPr>
            <a:normAutofit/>
          </a:bodyPr>
          <a:lstStyle/>
          <a:p>
            <a:pPr marL="514350" indent="-514350">
              <a:buFont typeface="+mj-lt"/>
              <a:buAutoNum type="arabicPeriod" startAt="6"/>
            </a:pPr>
            <a:r>
              <a:rPr lang="id-ID" dirty="0" smtClean="0"/>
              <a:t>Pakai sesedikit mungkin kata yang sama dengan sumber asli.</a:t>
            </a:r>
          </a:p>
          <a:p>
            <a:pPr marL="514350" indent="-514350">
              <a:buFont typeface="+mj-lt"/>
              <a:buAutoNum type="arabicPeriod" startAt="6"/>
            </a:pPr>
            <a:r>
              <a:rPr lang="id-ID" dirty="0" smtClean="0"/>
              <a:t>Beri tanda pada istilah yang tepat sama dengan sumber asli</a:t>
            </a:r>
          </a:p>
          <a:p>
            <a:pPr marL="514350" indent="-514350">
              <a:buFont typeface="+mj-lt"/>
              <a:buAutoNum type="arabicPeriod" startAt="6"/>
            </a:pPr>
            <a:r>
              <a:rPr lang="id-ID" dirty="0" smtClean="0"/>
              <a:t>Dokumentasikan (catat) lokasi kalimat asli pada sumber pustaka.</a:t>
            </a:r>
          </a:p>
          <a:p>
            <a:pPr marL="514350" indent="-514350">
              <a:buFont typeface="+mj-lt"/>
              <a:buAutoNum type="arabicPeriod" startAt="6"/>
            </a:pPr>
            <a:r>
              <a:rPr lang="id-ID" dirty="0" smtClean="0"/>
              <a:t>Periksa ulang apakah ide dasar sudah dapat menggambarkan dengan tepat ide yang ada pada pustaka asli</a:t>
            </a:r>
          </a:p>
          <a:p>
            <a:pPr marL="514350" indent="-514350">
              <a:buNone/>
            </a:pPr>
            <a:endParaRPr lang="id-ID"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dirty="0" smtClean="0"/>
              <a:t>Paraphrase Tips</a:t>
            </a:r>
            <a:endParaRPr lang="id-ID" dirty="0"/>
          </a:p>
        </p:txBody>
      </p:sp>
      <p:sp>
        <p:nvSpPr>
          <p:cNvPr id="3" name="Content Placeholder 2"/>
          <p:cNvSpPr>
            <a:spLocks noGrp="1"/>
          </p:cNvSpPr>
          <p:nvPr>
            <p:ph idx="1"/>
          </p:nvPr>
        </p:nvSpPr>
        <p:spPr/>
        <p:txBody>
          <a:bodyPr/>
          <a:lstStyle/>
          <a:p>
            <a:r>
              <a:rPr lang="id-ID" dirty="0" smtClean="0"/>
              <a:t>Memakai kata yang berbeda</a:t>
            </a:r>
          </a:p>
          <a:p>
            <a:r>
              <a:rPr lang="id-ID" dirty="0" smtClean="0"/>
              <a:t>Mengubah susunan kalimat</a:t>
            </a:r>
          </a:p>
          <a:p>
            <a:r>
              <a:rPr lang="id-ID" dirty="0" smtClean="0"/>
              <a:t>Mengubah aktif dan pasif</a:t>
            </a:r>
          </a:p>
          <a:p>
            <a:r>
              <a:rPr lang="id-ID" dirty="0" smtClean="0"/>
              <a:t>Mengkombinasikan berbagai material menjadi satu kalimat</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dirty="0" smtClean="0"/>
              <a:t>Contoh</a:t>
            </a:r>
            <a:endParaRPr lang="id-ID" dirty="0"/>
          </a:p>
        </p:txBody>
      </p:sp>
      <p:sp>
        <p:nvSpPr>
          <p:cNvPr id="3" name="Content Placeholder 2"/>
          <p:cNvSpPr>
            <a:spLocks noGrp="1"/>
          </p:cNvSpPr>
          <p:nvPr>
            <p:ph idx="1"/>
          </p:nvPr>
        </p:nvSpPr>
        <p:spPr/>
        <p:txBody>
          <a:bodyPr>
            <a:normAutofit fontScale="70000" lnSpcReduction="20000"/>
          </a:bodyPr>
          <a:lstStyle/>
          <a:p>
            <a:pPr>
              <a:lnSpc>
                <a:spcPct val="120000"/>
              </a:lnSpc>
              <a:spcAft>
                <a:spcPts val="600"/>
              </a:spcAft>
              <a:buNone/>
            </a:pPr>
            <a:r>
              <a:rPr lang="id-ID" dirty="0" smtClean="0"/>
              <a:t>		</a:t>
            </a:r>
            <a:r>
              <a:rPr lang="en-GB" sz="3200" dirty="0" err="1" smtClean="0"/>
              <a:t>Masyarakat</a:t>
            </a:r>
            <a:r>
              <a:rPr lang="en-GB" sz="3200" dirty="0" smtClean="0"/>
              <a:t> </a:t>
            </a:r>
            <a:r>
              <a:rPr lang="en-GB" sz="3200" dirty="0" err="1" smtClean="0"/>
              <a:t>atau</a:t>
            </a:r>
            <a:r>
              <a:rPr lang="en-GB" sz="3200" dirty="0" smtClean="0"/>
              <a:t> </a:t>
            </a:r>
            <a:r>
              <a:rPr lang="en-GB" sz="3200" dirty="0" err="1" smtClean="0"/>
              <a:t>pemakai</a:t>
            </a:r>
            <a:r>
              <a:rPr lang="en-GB" sz="3200" dirty="0" smtClean="0"/>
              <a:t> </a:t>
            </a:r>
            <a:r>
              <a:rPr lang="en-GB" sz="3200" dirty="0" err="1" smtClean="0"/>
              <a:t>jalan</a:t>
            </a:r>
            <a:r>
              <a:rPr lang="en-GB" sz="3200" dirty="0" smtClean="0"/>
              <a:t> </a:t>
            </a:r>
            <a:r>
              <a:rPr lang="en-GB" sz="3200" dirty="0" err="1" smtClean="0"/>
              <a:t>di</a:t>
            </a:r>
            <a:r>
              <a:rPr lang="en-GB" sz="3200" dirty="0" smtClean="0"/>
              <a:t> </a:t>
            </a:r>
            <a:r>
              <a:rPr lang="en-GB" sz="3200" dirty="0" err="1" smtClean="0"/>
              <a:t>daerah</a:t>
            </a:r>
            <a:r>
              <a:rPr lang="en-GB" sz="3200" dirty="0" smtClean="0"/>
              <a:t> </a:t>
            </a:r>
            <a:r>
              <a:rPr lang="en-GB" sz="3200" dirty="0" err="1" smtClean="0"/>
              <a:t>perkotaan</a:t>
            </a:r>
            <a:r>
              <a:rPr lang="id-ID" sz="3200" dirty="0" smtClean="0"/>
              <a:t>, </a:t>
            </a:r>
            <a:r>
              <a:rPr lang="en-GB" sz="3200" dirty="0" smtClean="0"/>
              <a:t> </a:t>
            </a:r>
            <a:r>
              <a:rPr lang="id-ID" sz="3200" dirty="0" smtClean="0"/>
              <a:t>khususnya </a:t>
            </a:r>
            <a:r>
              <a:rPr lang="en-GB" sz="3200" dirty="0" err="1" smtClean="0"/>
              <a:t>di</a:t>
            </a:r>
            <a:r>
              <a:rPr lang="en-GB" sz="3200" dirty="0" smtClean="0"/>
              <a:t> </a:t>
            </a:r>
            <a:r>
              <a:rPr lang="en-GB" sz="3200" dirty="0" err="1" smtClean="0"/>
              <a:t>kota</a:t>
            </a:r>
            <a:r>
              <a:rPr lang="en-GB" sz="3200" dirty="0" smtClean="0"/>
              <a:t> </a:t>
            </a:r>
            <a:r>
              <a:rPr lang="en-GB" sz="3200" dirty="0" err="1" smtClean="0"/>
              <a:t>besar</a:t>
            </a:r>
            <a:r>
              <a:rPr lang="en-GB" sz="3200" dirty="0" smtClean="0"/>
              <a:t> </a:t>
            </a:r>
            <a:r>
              <a:rPr lang="en-GB" sz="3200" dirty="0" err="1" smtClean="0"/>
              <a:t>sering</a:t>
            </a:r>
            <a:r>
              <a:rPr lang="en-GB" sz="3200" dirty="0" smtClean="0"/>
              <a:t> </a:t>
            </a:r>
            <a:r>
              <a:rPr lang="en-GB" sz="3200" dirty="0" err="1" smtClean="0"/>
              <a:t>mengalami</a:t>
            </a:r>
            <a:r>
              <a:rPr lang="en-GB" sz="3200" dirty="0" smtClean="0"/>
              <a:t> </a:t>
            </a:r>
            <a:r>
              <a:rPr lang="en-GB" sz="3200" dirty="0" err="1" smtClean="0"/>
              <a:t>kesulitan</a:t>
            </a:r>
            <a:r>
              <a:rPr lang="en-GB" sz="3200" dirty="0" smtClean="0"/>
              <a:t> </a:t>
            </a:r>
            <a:r>
              <a:rPr lang="en-GB" sz="3200" dirty="0" err="1" smtClean="0"/>
              <a:t>untuk</a:t>
            </a:r>
            <a:r>
              <a:rPr lang="en-GB" sz="3200" dirty="0" smtClean="0"/>
              <a:t> </a:t>
            </a:r>
            <a:r>
              <a:rPr lang="en-GB" sz="3200" dirty="0" err="1" smtClean="0"/>
              <a:t>mencari</a:t>
            </a:r>
            <a:r>
              <a:rPr lang="en-GB" sz="3200" dirty="0" smtClean="0"/>
              <a:t> </a:t>
            </a:r>
            <a:r>
              <a:rPr lang="en-GB" sz="3200" dirty="0" err="1" smtClean="0"/>
              <a:t>arah</a:t>
            </a:r>
            <a:r>
              <a:rPr lang="en-GB" sz="3200" dirty="0" smtClean="0"/>
              <a:t> </a:t>
            </a:r>
            <a:r>
              <a:rPr lang="en-GB" sz="3200" dirty="0" err="1" smtClean="0"/>
              <a:t>menuju</a:t>
            </a:r>
            <a:r>
              <a:rPr lang="en-GB" sz="3200" dirty="0" smtClean="0"/>
              <a:t> </a:t>
            </a:r>
            <a:r>
              <a:rPr lang="en-GB" sz="3200" dirty="0" err="1" smtClean="0"/>
              <a:t>suatu</a:t>
            </a:r>
            <a:r>
              <a:rPr lang="en-GB" sz="3200" dirty="0" smtClean="0"/>
              <a:t> </a:t>
            </a:r>
            <a:r>
              <a:rPr lang="en-GB" sz="3200" dirty="0" err="1" smtClean="0"/>
              <a:t>tempat</a:t>
            </a:r>
            <a:r>
              <a:rPr lang="en-GB" sz="3200" dirty="0" smtClean="0"/>
              <a:t>. </a:t>
            </a:r>
            <a:r>
              <a:rPr lang="en-GB" sz="3200" dirty="0" err="1" smtClean="0"/>
              <a:t>Walaupun</a:t>
            </a:r>
            <a:r>
              <a:rPr lang="en-GB" sz="3200" dirty="0" smtClean="0"/>
              <a:t> </a:t>
            </a:r>
            <a:r>
              <a:rPr lang="en-GB" sz="3200" dirty="0" err="1" smtClean="0"/>
              <a:t>seseorang</a:t>
            </a:r>
            <a:r>
              <a:rPr lang="en-GB" sz="3200" dirty="0" smtClean="0"/>
              <a:t> </a:t>
            </a:r>
            <a:r>
              <a:rPr lang="id-ID" sz="3200" dirty="0" smtClean="0"/>
              <a:t>telah</a:t>
            </a:r>
            <a:r>
              <a:rPr lang="en-GB" sz="3200" dirty="0" smtClean="0"/>
              <a:t> </a:t>
            </a:r>
            <a:r>
              <a:rPr lang="en-GB" sz="3200" dirty="0" err="1" smtClean="0"/>
              <a:t>menetap</a:t>
            </a:r>
            <a:r>
              <a:rPr lang="en-GB" sz="3200" dirty="0" smtClean="0"/>
              <a:t> </a:t>
            </a:r>
            <a:r>
              <a:rPr lang="en-GB" sz="3200" dirty="0" err="1" smtClean="0"/>
              <a:t>di</a:t>
            </a:r>
            <a:r>
              <a:rPr lang="id-ID" sz="3200" dirty="0" smtClean="0"/>
              <a:t> </a:t>
            </a:r>
            <a:r>
              <a:rPr lang="en-GB" sz="3200" dirty="0" err="1" smtClean="0"/>
              <a:t>suatu</a:t>
            </a:r>
            <a:r>
              <a:rPr lang="en-GB" sz="3200" dirty="0" smtClean="0"/>
              <a:t> </a:t>
            </a:r>
            <a:r>
              <a:rPr lang="en-GB" sz="3200" dirty="0" err="1" smtClean="0"/>
              <a:t>kota</a:t>
            </a:r>
            <a:r>
              <a:rPr lang="en-GB" sz="3200" dirty="0" smtClean="0"/>
              <a:t> </a:t>
            </a:r>
            <a:r>
              <a:rPr lang="en-GB" sz="3200" dirty="0" err="1" smtClean="0"/>
              <a:t>cukup</a:t>
            </a:r>
            <a:r>
              <a:rPr lang="en-GB" sz="3200" dirty="0" smtClean="0"/>
              <a:t> lama, </a:t>
            </a:r>
            <a:r>
              <a:rPr lang="en-GB" sz="3200" dirty="0" err="1" smtClean="0"/>
              <a:t>tidak</a:t>
            </a:r>
            <a:r>
              <a:rPr lang="en-GB" sz="3200" dirty="0" smtClean="0"/>
              <a:t> </a:t>
            </a:r>
            <a:r>
              <a:rPr lang="en-GB" sz="3200" dirty="0" err="1" smtClean="0"/>
              <a:t>berarti</a:t>
            </a:r>
            <a:r>
              <a:rPr lang="en-GB" sz="3200" dirty="0" smtClean="0"/>
              <a:t> </a:t>
            </a:r>
            <a:r>
              <a:rPr lang="en-GB" sz="3200" dirty="0" err="1" smtClean="0"/>
              <a:t>ia</a:t>
            </a:r>
            <a:r>
              <a:rPr lang="en-GB" sz="3200" dirty="0" smtClean="0"/>
              <a:t> </a:t>
            </a:r>
            <a:r>
              <a:rPr lang="en-GB" sz="3200" dirty="0" err="1" smtClean="0"/>
              <a:t>mengenal</a:t>
            </a:r>
            <a:r>
              <a:rPr lang="en-GB" sz="3200" dirty="0" smtClean="0"/>
              <a:t> </a:t>
            </a:r>
            <a:r>
              <a:rPr lang="en-GB" sz="3200" dirty="0" err="1" smtClean="0"/>
              <a:t>semua</a:t>
            </a:r>
            <a:r>
              <a:rPr lang="en-GB" sz="3200" dirty="0" smtClean="0"/>
              <a:t> </a:t>
            </a:r>
            <a:r>
              <a:rPr lang="en-GB" sz="3200" dirty="0" err="1" smtClean="0"/>
              <a:t>ruas</a:t>
            </a:r>
            <a:r>
              <a:rPr lang="en-GB" sz="3200" dirty="0" smtClean="0"/>
              <a:t> </a:t>
            </a:r>
            <a:r>
              <a:rPr lang="en-GB" sz="3200" dirty="0" err="1" smtClean="0"/>
              <a:t>jalan</a:t>
            </a:r>
            <a:r>
              <a:rPr lang="en-GB" sz="3200" dirty="0" smtClean="0"/>
              <a:t> yang </a:t>
            </a:r>
            <a:r>
              <a:rPr lang="en-GB" sz="3200" dirty="0" err="1" smtClean="0"/>
              <a:t>ada</a:t>
            </a:r>
            <a:r>
              <a:rPr lang="en-GB" sz="3200" dirty="0" smtClean="0"/>
              <a:t>, </a:t>
            </a:r>
            <a:r>
              <a:rPr lang="en-GB" sz="3200" dirty="0" err="1" smtClean="0"/>
              <a:t>apalagi</a:t>
            </a:r>
            <a:r>
              <a:rPr lang="en-GB" sz="3200" dirty="0" smtClean="0"/>
              <a:t> </a:t>
            </a:r>
            <a:r>
              <a:rPr lang="en-GB" sz="3200" dirty="0" err="1" smtClean="0"/>
              <a:t>jika</a:t>
            </a:r>
            <a:r>
              <a:rPr lang="en-GB" sz="3200" dirty="0" smtClean="0"/>
              <a:t> </a:t>
            </a:r>
            <a:r>
              <a:rPr lang="en-GB" sz="3200" dirty="0" err="1" smtClean="0"/>
              <a:t>ia</a:t>
            </a:r>
            <a:r>
              <a:rPr lang="en-GB" sz="3200" dirty="0" smtClean="0"/>
              <a:t> </a:t>
            </a:r>
            <a:r>
              <a:rPr lang="en-GB" sz="3200" dirty="0" err="1" smtClean="0"/>
              <a:t>adalah</a:t>
            </a:r>
            <a:r>
              <a:rPr lang="en-GB" sz="3200" dirty="0" smtClean="0"/>
              <a:t> </a:t>
            </a:r>
            <a:r>
              <a:rPr lang="en-GB" sz="3200" dirty="0" err="1" smtClean="0"/>
              <a:t>pendatang</a:t>
            </a:r>
            <a:r>
              <a:rPr lang="en-GB" sz="3200" dirty="0" smtClean="0"/>
              <a:t> </a:t>
            </a:r>
            <a:r>
              <a:rPr lang="en-GB" sz="3200" dirty="0" err="1" smtClean="0"/>
              <a:t>atau</a:t>
            </a:r>
            <a:r>
              <a:rPr lang="en-GB" sz="3200" dirty="0" smtClean="0"/>
              <a:t> </a:t>
            </a:r>
            <a:r>
              <a:rPr lang="en-GB" sz="3200" dirty="0" err="1" smtClean="0"/>
              <a:t>pengunjung</a:t>
            </a:r>
            <a:r>
              <a:rPr lang="en-GB" sz="3200" dirty="0" smtClean="0"/>
              <a:t> </a:t>
            </a:r>
            <a:r>
              <a:rPr lang="en-GB" sz="3200" dirty="0" err="1" smtClean="0"/>
              <a:t>di</a:t>
            </a:r>
            <a:r>
              <a:rPr lang="en-GB" sz="3200" dirty="0" smtClean="0"/>
              <a:t> </a:t>
            </a:r>
            <a:r>
              <a:rPr lang="en-GB" sz="3200" dirty="0" err="1" smtClean="0"/>
              <a:t>kota</a:t>
            </a:r>
            <a:r>
              <a:rPr lang="en-GB" sz="3200" dirty="0" smtClean="0"/>
              <a:t> </a:t>
            </a:r>
            <a:r>
              <a:rPr lang="en-GB" sz="3200" dirty="0" err="1" smtClean="0"/>
              <a:t>tersebut</a:t>
            </a:r>
            <a:r>
              <a:rPr lang="en-GB" sz="3200" dirty="0" smtClean="0"/>
              <a:t>. </a:t>
            </a:r>
            <a:r>
              <a:rPr lang="en-GB" sz="3200" dirty="0" err="1" smtClean="0"/>
              <a:t>Papan</a:t>
            </a:r>
            <a:r>
              <a:rPr lang="en-GB" sz="3200" dirty="0" smtClean="0"/>
              <a:t> </a:t>
            </a:r>
            <a:r>
              <a:rPr lang="en-GB" sz="3200" dirty="0" err="1" smtClean="0"/>
              <a:t>penujuk</a:t>
            </a:r>
            <a:r>
              <a:rPr lang="en-GB" sz="3200" dirty="0" smtClean="0"/>
              <a:t> </a:t>
            </a:r>
            <a:r>
              <a:rPr lang="en-GB" sz="3200" dirty="0" err="1" smtClean="0"/>
              <a:t>arah</a:t>
            </a:r>
            <a:r>
              <a:rPr lang="en-GB" sz="3200" dirty="0" smtClean="0"/>
              <a:t> yang </a:t>
            </a:r>
            <a:r>
              <a:rPr lang="en-GB" sz="3200" dirty="0" err="1" smtClean="0"/>
              <a:t>disediakan</a:t>
            </a:r>
            <a:r>
              <a:rPr lang="en-GB" sz="3200" dirty="0" smtClean="0"/>
              <a:t> </a:t>
            </a:r>
            <a:r>
              <a:rPr lang="en-GB" sz="3200" dirty="0" err="1" smtClean="0"/>
              <a:t>biasanya</a:t>
            </a:r>
            <a:r>
              <a:rPr lang="en-GB" sz="3200" dirty="0" smtClean="0"/>
              <a:t> </a:t>
            </a:r>
            <a:r>
              <a:rPr lang="en-GB" sz="3200" dirty="0" err="1" smtClean="0"/>
              <a:t>juga</a:t>
            </a:r>
            <a:r>
              <a:rPr lang="en-GB" sz="3200" dirty="0" smtClean="0"/>
              <a:t> </a:t>
            </a:r>
            <a:r>
              <a:rPr lang="en-GB" sz="3200" dirty="0" err="1" smtClean="0"/>
              <a:t>kurang</a:t>
            </a:r>
            <a:r>
              <a:rPr lang="en-GB" sz="3200" dirty="0" smtClean="0"/>
              <a:t> </a:t>
            </a:r>
            <a:r>
              <a:rPr lang="en-GB" sz="3200" dirty="0" err="1" smtClean="0"/>
              <a:t>membantu</a:t>
            </a:r>
            <a:r>
              <a:rPr lang="en-GB" sz="3200" dirty="0" smtClean="0"/>
              <a:t> </a:t>
            </a:r>
            <a:r>
              <a:rPr lang="en-GB" sz="3200" dirty="0" err="1" smtClean="0"/>
              <a:t>jika</a:t>
            </a:r>
            <a:r>
              <a:rPr lang="en-GB" sz="3200" dirty="0" smtClean="0"/>
              <a:t> </a:t>
            </a:r>
            <a:r>
              <a:rPr lang="en-GB" sz="3200" dirty="0" err="1" smtClean="0"/>
              <a:t>pemakai</a:t>
            </a:r>
            <a:r>
              <a:rPr lang="en-GB" sz="3200" dirty="0" smtClean="0"/>
              <a:t> </a:t>
            </a:r>
            <a:r>
              <a:rPr lang="en-GB" sz="3200" dirty="0" err="1" smtClean="0"/>
              <a:t>jalan</a:t>
            </a:r>
            <a:r>
              <a:rPr lang="en-GB" sz="3200" dirty="0" smtClean="0"/>
              <a:t> </a:t>
            </a:r>
            <a:r>
              <a:rPr lang="en-GB" sz="3200" dirty="0" err="1" smtClean="0"/>
              <a:t>hanya</a:t>
            </a:r>
            <a:r>
              <a:rPr lang="en-GB" sz="3200" dirty="0" smtClean="0"/>
              <a:t> </a:t>
            </a:r>
            <a:r>
              <a:rPr lang="en-GB" sz="3200" dirty="0" err="1" smtClean="0"/>
              <a:t>mengetahui</a:t>
            </a:r>
            <a:r>
              <a:rPr lang="en-GB" sz="3200" dirty="0" smtClean="0"/>
              <a:t> </a:t>
            </a:r>
            <a:r>
              <a:rPr lang="en-GB" sz="3200" dirty="0" err="1" smtClean="0"/>
              <a:t>nama</a:t>
            </a:r>
            <a:r>
              <a:rPr lang="en-GB" sz="3200" dirty="0" smtClean="0"/>
              <a:t> </a:t>
            </a:r>
            <a:r>
              <a:rPr lang="en-GB" sz="3200" dirty="0" err="1" smtClean="0"/>
              <a:t>jalan</a:t>
            </a:r>
            <a:r>
              <a:rPr lang="en-GB" sz="3200" dirty="0" smtClean="0"/>
              <a:t> </a:t>
            </a:r>
            <a:r>
              <a:rPr lang="en-GB" sz="3200" dirty="0" err="1" smtClean="0"/>
              <a:t>asal</a:t>
            </a:r>
            <a:r>
              <a:rPr lang="en-GB" sz="3200" dirty="0" smtClean="0"/>
              <a:t> </a:t>
            </a:r>
            <a:r>
              <a:rPr lang="en-GB" sz="3200" dirty="0" err="1" smtClean="0"/>
              <a:t>dan</a:t>
            </a:r>
            <a:r>
              <a:rPr lang="en-GB" sz="3200" dirty="0" smtClean="0"/>
              <a:t> </a:t>
            </a:r>
            <a:r>
              <a:rPr lang="en-GB" sz="3200" dirty="0" err="1" smtClean="0"/>
              <a:t>tujuan</a:t>
            </a:r>
            <a:r>
              <a:rPr lang="en-GB" sz="3200" dirty="0" smtClean="0"/>
              <a:t>. </a:t>
            </a:r>
            <a:r>
              <a:rPr lang="en-GB" sz="3200" dirty="0" err="1" smtClean="0"/>
              <a:t>Untuk</a:t>
            </a:r>
            <a:r>
              <a:rPr lang="en-GB" sz="3200" dirty="0" smtClean="0"/>
              <a:t> </a:t>
            </a:r>
            <a:r>
              <a:rPr lang="en-GB" sz="3200" dirty="0" err="1" smtClean="0"/>
              <a:t>dapat</a:t>
            </a:r>
            <a:r>
              <a:rPr lang="en-GB" sz="3200" dirty="0" smtClean="0"/>
              <a:t> </a:t>
            </a:r>
            <a:r>
              <a:rPr lang="en-GB" sz="3200" dirty="0" err="1" smtClean="0"/>
              <a:t>memanfaatkan</a:t>
            </a:r>
            <a:r>
              <a:rPr lang="en-GB" sz="3200" dirty="0" smtClean="0"/>
              <a:t> </a:t>
            </a:r>
            <a:r>
              <a:rPr lang="en-GB" sz="3200" dirty="0" err="1" smtClean="0"/>
              <a:t>papan</a:t>
            </a:r>
            <a:r>
              <a:rPr lang="en-GB" sz="3200" dirty="0" smtClean="0"/>
              <a:t> </a:t>
            </a:r>
            <a:r>
              <a:rPr lang="en-GB" sz="3200" dirty="0" err="1" smtClean="0"/>
              <a:t>penunjuk</a:t>
            </a:r>
            <a:r>
              <a:rPr lang="en-GB" sz="3200" dirty="0" smtClean="0"/>
              <a:t> </a:t>
            </a:r>
            <a:r>
              <a:rPr lang="en-GB" sz="3200" dirty="0" err="1" smtClean="0"/>
              <a:t>arah</a:t>
            </a:r>
            <a:r>
              <a:rPr lang="en-GB" sz="3200" dirty="0" smtClean="0"/>
              <a:t>, </a:t>
            </a:r>
            <a:r>
              <a:rPr lang="en-GB" sz="3200" dirty="0" err="1" smtClean="0"/>
              <a:t>seorang</a:t>
            </a:r>
            <a:r>
              <a:rPr lang="en-GB" sz="3200" dirty="0" smtClean="0"/>
              <a:t> </a:t>
            </a:r>
            <a:r>
              <a:rPr lang="en-GB" sz="3200" dirty="0" err="1" smtClean="0"/>
              <a:t>pemakai</a:t>
            </a:r>
            <a:r>
              <a:rPr lang="en-GB" sz="3200" dirty="0" smtClean="0"/>
              <a:t> </a:t>
            </a:r>
            <a:r>
              <a:rPr lang="en-GB" sz="3200" dirty="0" err="1" smtClean="0"/>
              <a:t>jalan</a:t>
            </a:r>
            <a:r>
              <a:rPr lang="en-GB" sz="3200" dirty="0" smtClean="0"/>
              <a:t> </a:t>
            </a:r>
            <a:r>
              <a:rPr lang="en-GB" sz="3200" dirty="0" err="1" smtClean="0"/>
              <a:t>setidaknya</a:t>
            </a:r>
            <a:r>
              <a:rPr lang="en-GB" sz="3200" dirty="0" smtClean="0"/>
              <a:t> </a:t>
            </a:r>
            <a:r>
              <a:rPr lang="en-GB" sz="3200" dirty="0" err="1" smtClean="0"/>
              <a:t>harus</a:t>
            </a:r>
            <a:r>
              <a:rPr lang="en-GB" sz="3200" dirty="0" smtClean="0"/>
              <a:t> </a:t>
            </a:r>
            <a:r>
              <a:rPr lang="en-GB" sz="3200" dirty="0" err="1" smtClean="0"/>
              <a:t>mengetahui</a:t>
            </a:r>
            <a:r>
              <a:rPr lang="en-GB" sz="3200" dirty="0" smtClean="0"/>
              <a:t> </a:t>
            </a:r>
            <a:r>
              <a:rPr lang="en-GB" sz="3200" dirty="0" err="1" smtClean="0"/>
              <a:t>rute</a:t>
            </a:r>
            <a:r>
              <a:rPr lang="en-GB" sz="3200" dirty="0" smtClean="0"/>
              <a:t> </a:t>
            </a:r>
            <a:r>
              <a:rPr lang="en-GB" sz="3200" dirty="0" err="1" smtClean="0"/>
              <a:t>nama</a:t>
            </a:r>
            <a:r>
              <a:rPr lang="en-GB" sz="3200" dirty="0" smtClean="0"/>
              <a:t> </a:t>
            </a:r>
            <a:r>
              <a:rPr lang="en-GB" sz="3200" dirty="0" err="1" smtClean="0"/>
              <a:t>jalan</a:t>
            </a:r>
            <a:r>
              <a:rPr lang="en-GB" sz="3200" dirty="0" smtClean="0"/>
              <a:t> yang </a:t>
            </a:r>
            <a:r>
              <a:rPr lang="en-GB" sz="3200" dirty="0" err="1" smtClean="0"/>
              <a:t>harus</a:t>
            </a:r>
            <a:r>
              <a:rPr lang="en-GB" sz="3200" dirty="0" smtClean="0"/>
              <a:t> </a:t>
            </a:r>
            <a:r>
              <a:rPr lang="en-GB" sz="3200" dirty="0" err="1" smtClean="0"/>
              <a:t>dilewati</a:t>
            </a:r>
            <a:r>
              <a:rPr lang="en-GB" sz="3200" dirty="0" smtClean="0"/>
              <a:t> </a:t>
            </a:r>
            <a:r>
              <a:rPr lang="en-GB" sz="3200" dirty="0" err="1" smtClean="0"/>
              <a:t>untuk</a:t>
            </a:r>
            <a:r>
              <a:rPr lang="en-GB" sz="3200" dirty="0" smtClean="0"/>
              <a:t> </a:t>
            </a:r>
            <a:r>
              <a:rPr lang="en-GB" sz="3200" dirty="0" err="1" smtClean="0"/>
              <a:t>menuju</a:t>
            </a:r>
            <a:r>
              <a:rPr lang="en-GB" sz="3200" dirty="0" smtClean="0"/>
              <a:t> </a:t>
            </a:r>
            <a:r>
              <a:rPr lang="en-GB" sz="3200" dirty="0" err="1" smtClean="0"/>
              <a:t>ke</a:t>
            </a:r>
            <a:r>
              <a:rPr lang="en-GB" sz="3200" dirty="0" smtClean="0"/>
              <a:t> </a:t>
            </a:r>
            <a:r>
              <a:rPr lang="en-GB" sz="3200" dirty="0" err="1" smtClean="0"/>
              <a:t>jalan</a:t>
            </a:r>
            <a:r>
              <a:rPr lang="en-GB" sz="3200" dirty="0" smtClean="0"/>
              <a:t> </a:t>
            </a:r>
            <a:r>
              <a:rPr lang="en-GB" sz="3200" dirty="0" err="1" smtClean="0"/>
              <a:t>tujuan</a:t>
            </a:r>
            <a:r>
              <a:rPr lang="en-GB" sz="3200" dirty="0" smtClean="0"/>
              <a:t>.</a:t>
            </a:r>
            <a:endParaRPr lang="id-ID" sz="3200" dirty="0" smtClean="0"/>
          </a:p>
          <a:p>
            <a:pPr>
              <a:buNone/>
            </a:pPr>
            <a:r>
              <a:rPr lang="id-ID" dirty="0" smtClean="0"/>
              <a:t>		</a:t>
            </a:r>
            <a:endParaRPr lang="id-ID"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dirty="0" smtClean="0"/>
              <a:t>Paraphrase Menjadi</a:t>
            </a:r>
            <a:endParaRPr lang="id-ID" dirty="0"/>
          </a:p>
        </p:txBody>
      </p:sp>
      <p:sp>
        <p:nvSpPr>
          <p:cNvPr id="3" name="Content Placeholder 2"/>
          <p:cNvSpPr>
            <a:spLocks noGrp="1"/>
          </p:cNvSpPr>
          <p:nvPr>
            <p:ph idx="1"/>
          </p:nvPr>
        </p:nvSpPr>
        <p:spPr/>
        <p:txBody>
          <a:bodyPr>
            <a:normAutofit fontScale="92500" lnSpcReduction="20000"/>
          </a:bodyPr>
          <a:lstStyle/>
          <a:p>
            <a:pPr>
              <a:lnSpc>
                <a:spcPct val="120000"/>
              </a:lnSpc>
              <a:spcAft>
                <a:spcPts val="600"/>
              </a:spcAft>
              <a:buNone/>
            </a:pPr>
            <a:r>
              <a:rPr lang="id-ID" dirty="0" smtClean="0"/>
              <a:t>		</a:t>
            </a:r>
            <a:r>
              <a:rPr lang="en-GB" sz="3200" dirty="0" smtClean="0"/>
              <a:t>I</a:t>
            </a:r>
            <a:r>
              <a:rPr lang="id-ID" sz="3200" dirty="0" smtClean="0"/>
              <a:t>nformasi tentang petunjuk arah seringkali menjadi kebutuhan bagi masyarakat perkotaan, khususnya bagi mereka yang baru menempati kota tersebut dan belum mengenal berbagai ruas jalan yang ada. Minimnya informasi mengenai ruas jalan yang ada terkadang mengakibatkan ketersediaan “papan penunjuk arah” menjadi kurang efektif.</a:t>
            </a:r>
          </a:p>
          <a:p>
            <a:pPr>
              <a:buNone/>
            </a:pPr>
            <a:r>
              <a:rPr lang="id-ID" dirty="0" smtClean="0"/>
              <a:t>		</a:t>
            </a:r>
            <a:endParaRPr lang="id-ID"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dirty="0" smtClean="0"/>
              <a:t>Tugas</a:t>
            </a:r>
            <a:endParaRPr lang="id-ID" dirty="0"/>
          </a:p>
        </p:txBody>
      </p:sp>
      <p:sp>
        <p:nvSpPr>
          <p:cNvPr id="3" name="Content Placeholder 2"/>
          <p:cNvSpPr>
            <a:spLocks noGrp="1"/>
          </p:cNvSpPr>
          <p:nvPr>
            <p:ph idx="1"/>
          </p:nvPr>
        </p:nvSpPr>
        <p:spPr/>
        <p:txBody>
          <a:bodyPr/>
          <a:lstStyle/>
          <a:p>
            <a:r>
              <a:rPr lang="id-ID" dirty="0" smtClean="0"/>
              <a:t>Lakukan paraphrase terhadap 1 bagian dari jurnal yang dibagikan di kelas</a:t>
            </a:r>
          </a:p>
          <a:p>
            <a:r>
              <a:rPr lang="id-ID" dirty="0" smtClean="0"/>
              <a:t>Bawa 3 pustakan yang telah anda kumpulkan pada minggu ke-6</a:t>
            </a:r>
            <a:endParaRPr lang="id-ID"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Ubaya 50 tahun">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Ubaya 50 tahun" id="{E34E5270-E75E-4A0D-A32F-0C92323F1E12}" vid="{15A4C42F-02C2-4D05-81D7-549D0EE5966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Ubaya 50 tahun</Template>
  <TotalTime>811</TotalTime>
  <Words>706</Words>
  <Application>Microsoft Office PowerPoint</Application>
  <PresentationFormat>On-screen Show (4:3)</PresentationFormat>
  <Paragraphs>166</Paragraphs>
  <Slides>29</Slides>
  <Notes>3</Notes>
  <HiddenSlides>0</HiddenSlides>
  <MMClips>0</MMClips>
  <ScaleCrop>false</ScaleCrop>
  <HeadingPairs>
    <vt:vector size="4" baseType="variant">
      <vt:variant>
        <vt:lpstr>Theme</vt:lpstr>
      </vt:variant>
      <vt:variant>
        <vt:i4>1</vt:i4>
      </vt:variant>
      <vt:variant>
        <vt:lpstr>Slide Titles</vt:lpstr>
      </vt:variant>
      <vt:variant>
        <vt:i4>29</vt:i4>
      </vt:variant>
    </vt:vector>
  </HeadingPairs>
  <TitlesOfParts>
    <vt:vector size="30" baseType="lpstr">
      <vt:lpstr>Ubaya 50 tahun</vt:lpstr>
      <vt:lpstr>Citation</vt:lpstr>
      <vt:lpstr>What is Citation</vt:lpstr>
      <vt:lpstr>Citation Format</vt:lpstr>
      <vt:lpstr>Citation Type</vt:lpstr>
      <vt:lpstr>How to Cite</vt:lpstr>
      <vt:lpstr>Daftar Pustaka</vt:lpstr>
      <vt:lpstr>Journal Cetak</vt:lpstr>
      <vt:lpstr>Journal Online</vt:lpstr>
      <vt:lpstr>Book</vt:lpstr>
      <vt:lpstr>E-Book</vt:lpstr>
      <vt:lpstr>Book Chapter</vt:lpstr>
      <vt:lpstr>Web Article (with author)</vt:lpstr>
      <vt:lpstr>Web Article (without author)</vt:lpstr>
      <vt:lpstr>Youtube Video</vt:lpstr>
      <vt:lpstr>Personal Interview</vt:lpstr>
      <vt:lpstr>Online Lecture</vt:lpstr>
      <vt:lpstr>Encyclopedia</vt:lpstr>
      <vt:lpstr>In-text Citation</vt:lpstr>
      <vt:lpstr>Group Author</vt:lpstr>
      <vt:lpstr>Multiple Author</vt:lpstr>
      <vt:lpstr>Multiple Works</vt:lpstr>
      <vt:lpstr>Incomplete detail</vt:lpstr>
      <vt:lpstr>Direct Quote</vt:lpstr>
      <vt:lpstr>Paraphrase</vt:lpstr>
      <vt:lpstr>Paraphrase</vt:lpstr>
      <vt:lpstr>Paraphrase Tips</vt:lpstr>
      <vt:lpstr>Contoh</vt:lpstr>
      <vt:lpstr>Paraphrase Menjadi</vt:lpstr>
      <vt:lpstr>Tugas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Paraphrase</dc:title>
  <dc:creator>lenovo2</dc:creator>
  <cp:lastModifiedBy>user</cp:lastModifiedBy>
  <cp:revision>16</cp:revision>
  <dcterms:created xsi:type="dcterms:W3CDTF">2018-03-04T23:52:23Z</dcterms:created>
  <dcterms:modified xsi:type="dcterms:W3CDTF">2019-03-12T02:14:03Z</dcterms:modified>
</cp:coreProperties>
</file>