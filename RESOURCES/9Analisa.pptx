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notesMasterIdLst>
    <p:notesMasterId r:id="rId26"/>
  </p:notesMasterIdLst>
  <p:sldIdLst>
    <p:sldId id="309" r:id="rId3"/>
    <p:sldId id="310" r:id="rId4"/>
    <p:sldId id="342" r:id="rId5"/>
    <p:sldId id="343" r:id="rId6"/>
    <p:sldId id="345" r:id="rId7"/>
    <p:sldId id="325" r:id="rId8"/>
    <p:sldId id="344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16" r:id="rId24"/>
    <p:sldId id="36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 autoAdjust="0"/>
  </p:normalViewPr>
  <p:slideViewPr>
    <p:cSldViewPr snapToGrid="0">
      <p:cViewPr varScale="1">
        <p:scale>
          <a:sx n="69" d="100"/>
          <a:sy n="69" d="100"/>
        </p:scale>
        <p:origin x="-135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4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73AA2-FC3D-46DA-B852-76920C7AAC81}" type="datetimeFigureOut">
              <a:rPr lang="id-ID" smtClean="0"/>
              <a:pPr/>
              <a:t>17/04/2018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4396C-A776-407A-A636-0A0A738F91F8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596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4882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5935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94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9124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281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122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8939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5890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073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1172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5966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8826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9353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3945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1248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28109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12273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8939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58901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70737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17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44E1C-4540-48D2-AC33-2EEA67550097}" type="datetimeFigureOut">
              <a:rPr lang="en-US" smtClean="0"/>
              <a:pPr/>
              <a:t>4/17/2018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672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672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0766" y="2750256"/>
            <a:ext cx="6734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Bab </a:t>
            </a:r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3 - Analisa</a:t>
            </a:r>
            <a:endParaRPr lang="en-US" sz="4800" b="1" dirty="0">
              <a:solidFill>
                <a:prstClr val="white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0766" y="3945925"/>
            <a:ext cx="4417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>
                <a:solidFill>
                  <a:prstClr val="white"/>
                </a:solidFill>
              </a:rPr>
              <a:t>Teknik Informatika Ubaya, 2018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22568" y="420450"/>
            <a:ext cx="1468188" cy="159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4264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Analisa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 smtClean="0"/>
              <a:t>utama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bab</a:t>
            </a:r>
            <a:r>
              <a:rPr lang="en-US" dirty="0" smtClean="0"/>
              <a:t> </a:t>
            </a:r>
            <a:r>
              <a:rPr lang="en-US" dirty="0" err="1" smtClean="0"/>
              <a:t>Analisis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kondisi</a:t>
            </a:r>
            <a:r>
              <a:rPr lang="en-US" dirty="0" smtClean="0"/>
              <a:t> yang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terjadi</a:t>
            </a:r>
            <a:r>
              <a:rPr lang="id-ID" dirty="0" smtClean="0"/>
              <a:t>, </a:t>
            </a:r>
            <a:r>
              <a:rPr lang="en-US" dirty="0" err="1" smtClean="0"/>
              <a:t>permasalahannya</a:t>
            </a:r>
            <a:r>
              <a:rPr lang="id-ID" dirty="0" smtClean="0"/>
              <a:t> dan perkiraan solusinya.</a:t>
            </a:r>
            <a:endParaRPr lang="en-US" dirty="0" smtClean="0"/>
          </a:p>
          <a:p>
            <a:r>
              <a:rPr lang="en-US" dirty="0" err="1" smtClean="0"/>
              <a:t>Penjelasan</a:t>
            </a:r>
            <a:r>
              <a:rPr lang="en-US" dirty="0" smtClean="0"/>
              <a:t> </a:t>
            </a:r>
            <a:r>
              <a:rPr lang="en-US" dirty="0" err="1" smtClean="0"/>
              <a:t>kondisi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berupa</a:t>
            </a:r>
            <a:r>
              <a:rPr lang="en-US" dirty="0" smtClean="0"/>
              <a:t> </a:t>
            </a:r>
            <a:r>
              <a:rPr lang="en-US" dirty="0" err="1" smtClean="0"/>
              <a:t>kondisi</a:t>
            </a:r>
            <a:r>
              <a:rPr lang="en-US" dirty="0" smtClean="0"/>
              <a:t> </a:t>
            </a:r>
            <a:r>
              <a:rPr lang="en-US" dirty="0" err="1" smtClean="0"/>
              <a:t>penggunaan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id-ID" dirty="0" smtClean="0"/>
              <a:t>yang saat ini dipakai</a:t>
            </a:r>
            <a:r>
              <a:rPr lang="en-US" dirty="0" smtClean="0"/>
              <a:t>, </a:t>
            </a:r>
            <a:r>
              <a:rPr lang="en-US" dirty="0" err="1" smtClean="0"/>
              <a:t>kondisi</a:t>
            </a:r>
            <a:r>
              <a:rPr lang="en-US" dirty="0" smtClean="0"/>
              <a:t> </a:t>
            </a:r>
            <a:r>
              <a:rPr lang="en-US" dirty="0" err="1" smtClean="0"/>
              <a:t>tanpa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,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sejenis</a:t>
            </a:r>
            <a:r>
              <a:rPr lang="en-US" dirty="0" smtClean="0"/>
              <a:t>.</a:t>
            </a: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Analisa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Harus dapat menjawab pertanyaan : mengapa perlu dilakukan penelitian ini, dan ke arah mana penelitian ini akan dijalankan (hasil apa yang diharapkan, bagian mana yang menjadi titik berat, dsb).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Survey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id-ID" dirty="0" smtClean="0"/>
              <a:t>Metode penelitian yang pernah dijelaskan pada bagian sebelum UTS sangat tepat untuk dipakai dalam analisa.</a:t>
            </a:r>
          </a:p>
          <a:p>
            <a:pPr>
              <a:defRPr/>
            </a:pPr>
            <a:r>
              <a:rPr lang="en-AU" dirty="0" err="1" smtClean="0"/>
              <a:t>Digunakan</a:t>
            </a:r>
            <a:r>
              <a:rPr lang="en-AU" dirty="0" smtClean="0"/>
              <a:t> </a:t>
            </a:r>
            <a:r>
              <a:rPr lang="en-AU" dirty="0" err="1" smtClean="0"/>
              <a:t>untuk</a:t>
            </a:r>
            <a:r>
              <a:rPr lang="en-AU" dirty="0" smtClean="0"/>
              <a:t> </a:t>
            </a:r>
            <a:r>
              <a:rPr lang="en-AU" dirty="0" err="1" smtClean="0"/>
              <a:t>memperoleh</a:t>
            </a:r>
            <a:r>
              <a:rPr lang="en-AU" dirty="0" smtClean="0"/>
              <a:t> </a:t>
            </a:r>
            <a:r>
              <a:rPr lang="en-AU" dirty="0" err="1" smtClean="0"/>
              <a:t>gambaran</a:t>
            </a:r>
            <a:r>
              <a:rPr lang="en-AU" dirty="0" smtClean="0"/>
              <a:t> </a:t>
            </a:r>
            <a:r>
              <a:rPr lang="en-AU" dirty="0" err="1" smtClean="0"/>
              <a:t>atas</a:t>
            </a:r>
            <a:r>
              <a:rPr lang="en-AU" dirty="0" smtClean="0"/>
              <a:t> </a:t>
            </a:r>
            <a:r>
              <a:rPr lang="en-AU" dirty="0" err="1" smtClean="0"/>
              <a:t>suatu</a:t>
            </a:r>
            <a:r>
              <a:rPr lang="en-AU" dirty="0" smtClean="0"/>
              <a:t> </a:t>
            </a:r>
            <a:r>
              <a:rPr lang="en-AU" dirty="0" err="1" smtClean="0"/>
              <a:t>kejadian</a:t>
            </a:r>
            <a:r>
              <a:rPr lang="en-AU" dirty="0" smtClean="0"/>
              <a:t> </a:t>
            </a:r>
            <a:r>
              <a:rPr lang="en-AU" dirty="0" err="1" smtClean="0"/>
              <a:t>atau</a:t>
            </a:r>
            <a:r>
              <a:rPr lang="en-AU" dirty="0" smtClean="0"/>
              <a:t> </a:t>
            </a:r>
            <a:r>
              <a:rPr lang="en-AU" dirty="0" err="1" smtClean="0"/>
              <a:t>situasi</a:t>
            </a:r>
            <a:r>
              <a:rPr lang="en-AU" dirty="0" smtClean="0"/>
              <a:t> </a:t>
            </a:r>
            <a:r>
              <a:rPr lang="en-AU" dirty="0" err="1" smtClean="0"/>
              <a:t>di</a:t>
            </a:r>
            <a:r>
              <a:rPr lang="en-AU" dirty="0" smtClean="0"/>
              <a:t> </a:t>
            </a:r>
            <a:r>
              <a:rPr lang="en-AU" dirty="0" err="1" smtClean="0"/>
              <a:t>suatu</a:t>
            </a:r>
            <a:r>
              <a:rPr lang="en-AU" dirty="0" smtClean="0"/>
              <a:t> </a:t>
            </a:r>
            <a:r>
              <a:rPr lang="en-AU" dirty="0" err="1" smtClean="0"/>
              <a:t>waktu</a:t>
            </a:r>
            <a:r>
              <a:rPr lang="en-AU" dirty="0" smtClean="0"/>
              <a:t>.</a:t>
            </a:r>
          </a:p>
          <a:p>
            <a:pPr>
              <a:defRPr/>
            </a:pPr>
            <a:r>
              <a:rPr lang="en-AU" dirty="0" err="1" smtClean="0"/>
              <a:t>Diambil</a:t>
            </a:r>
            <a:r>
              <a:rPr lang="en-AU" dirty="0" smtClean="0"/>
              <a:t> </a:t>
            </a:r>
            <a:r>
              <a:rPr lang="en-AU" dirty="0" err="1" smtClean="0"/>
              <a:t>dari</a:t>
            </a:r>
            <a:r>
              <a:rPr lang="en-AU" dirty="0" smtClean="0"/>
              <a:t> </a:t>
            </a:r>
            <a:r>
              <a:rPr lang="en-AU" dirty="0" err="1" smtClean="0"/>
              <a:t>contoh</a:t>
            </a:r>
            <a:r>
              <a:rPr lang="en-AU" dirty="0" smtClean="0"/>
              <a:t> </a:t>
            </a:r>
            <a:r>
              <a:rPr lang="en-AU" dirty="0" err="1" smtClean="0"/>
              <a:t>perwakilan</a:t>
            </a:r>
            <a:r>
              <a:rPr lang="en-AU" dirty="0" smtClean="0"/>
              <a:t> (sample) </a:t>
            </a:r>
            <a:r>
              <a:rPr lang="en-AU" dirty="0" err="1" smtClean="0"/>
              <a:t>dari</a:t>
            </a:r>
            <a:r>
              <a:rPr lang="en-AU" dirty="0" smtClean="0"/>
              <a:t> </a:t>
            </a:r>
            <a:r>
              <a:rPr lang="en-AU" dirty="0" err="1" smtClean="0"/>
              <a:t>populasi</a:t>
            </a:r>
            <a:r>
              <a:rPr lang="en-AU" dirty="0" smtClean="0"/>
              <a:t> yang </a:t>
            </a:r>
            <a:r>
              <a:rPr lang="en-AU" dirty="0" err="1" smtClean="0"/>
              <a:t>diinginkan</a:t>
            </a:r>
            <a:endParaRPr lang="en-AU" dirty="0" smtClean="0"/>
          </a:p>
          <a:p>
            <a:pPr>
              <a:defRPr/>
            </a:pPr>
            <a:r>
              <a:rPr lang="en-AU" dirty="0" err="1" smtClean="0"/>
              <a:t>Informasi</a:t>
            </a:r>
            <a:r>
              <a:rPr lang="en-AU" dirty="0" smtClean="0"/>
              <a:t> </a:t>
            </a:r>
            <a:r>
              <a:rPr lang="en-AU" dirty="0" err="1" smtClean="0"/>
              <a:t>diperoleh</a:t>
            </a:r>
            <a:r>
              <a:rPr lang="en-AU" dirty="0" smtClean="0"/>
              <a:t> </a:t>
            </a:r>
            <a:r>
              <a:rPr lang="en-AU" dirty="0" err="1" smtClean="0"/>
              <a:t>menggunakan</a:t>
            </a:r>
            <a:r>
              <a:rPr lang="en-AU" dirty="0" smtClean="0"/>
              <a:t> </a:t>
            </a:r>
            <a:r>
              <a:rPr lang="en-AU" dirty="0" err="1" smtClean="0"/>
              <a:t>kumpulan</a:t>
            </a:r>
            <a:r>
              <a:rPr lang="en-AU" dirty="0" smtClean="0"/>
              <a:t> </a:t>
            </a:r>
            <a:r>
              <a:rPr lang="en-AU" dirty="0" err="1" smtClean="0"/>
              <a:t>pertanyaan</a:t>
            </a:r>
            <a:r>
              <a:rPr lang="en-AU" dirty="0" smtClean="0"/>
              <a:t> </a:t>
            </a:r>
            <a:r>
              <a:rPr lang="id-ID" dirty="0" smtClean="0"/>
              <a:t>atau skenario dan tugas </a:t>
            </a:r>
            <a:r>
              <a:rPr lang="en-AU" dirty="0" smtClean="0"/>
              <a:t>yang </a:t>
            </a:r>
            <a:r>
              <a:rPr lang="en-AU" dirty="0" err="1" smtClean="0"/>
              <a:t>disusun</a:t>
            </a:r>
            <a:r>
              <a:rPr lang="en-AU" dirty="0" smtClean="0"/>
              <a:t> </a:t>
            </a:r>
            <a:r>
              <a:rPr lang="id-ID" dirty="0" smtClean="0"/>
              <a:t>untuk </a:t>
            </a:r>
            <a:r>
              <a:rPr lang="en-AU" dirty="0" smtClean="0"/>
              <a:t>Questionnaire</a:t>
            </a:r>
            <a:r>
              <a:rPr lang="id-ID" dirty="0" smtClean="0"/>
              <a:t>, </a:t>
            </a:r>
            <a:r>
              <a:rPr lang="en-AU" dirty="0" smtClean="0"/>
              <a:t>Interview</a:t>
            </a:r>
            <a:r>
              <a:rPr lang="id-ID" dirty="0" smtClean="0"/>
              <a:t>, FGD, dsb.</a:t>
            </a:r>
            <a:endParaRPr lang="en-AU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Survey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 smtClean="0"/>
              <a:t>Survey </a:t>
            </a:r>
            <a:r>
              <a:rPr lang="id-ID" dirty="0" smtClean="0"/>
              <a:t>dapat</a:t>
            </a:r>
            <a:r>
              <a:rPr lang="en-AU" dirty="0" smtClean="0"/>
              <a:t> </a:t>
            </a:r>
            <a:r>
              <a:rPr lang="en-AU" dirty="0" err="1" smtClean="0"/>
              <a:t>digunakan</a:t>
            </a:r>
            <a:r>
              <a:rPr lang="en-AU" dirty="0" smtClean="0"/>
              <a:t> </a:t>
            </a:r>
            <a:r>
              <a:rPr lang="en-AU" dirty="0" err="1" smtClean="0"/>
              <a:t>untuk</a:t>
            </a:r>
            <a:r>
              <a:rPr lang="en-AU" dirty="0" smtClean="0"/>
              <a:t> </a:t>
            </a:r>
            <a:r>
              <a:rPr lang="en-AU" dirty="0" err="1" smtClean="0"/>
              <a:t>mencari</a:t>
            </a:r>
            <a:r>
              <a:rPr lang="en-AU" dirty="0" smtClean="0"/>
              <a:t> </a:t>
            </a:r>
            <a:r>
              <a:rPr lang="en-AU" dirty="0" err="1" smtClean="0"/>
              <a:t>informasi</a:t>
            </a:r>
            <a:r>
              <a:rPr lang="en-AU" dirty="0" smtClean="0"/>
              <a:t> </a:t>
            </a:r>
            <a:r>
              <a:rPr lang="en-AU" dirty="0" err="1" smtClean="0"/>
              <a:t>terkait</a:t>
            </a:r>
            <a:r>
              <a:rPr lang="en-AU" dirty="0" smtClean="0"/>
              <a:t>:</a:t>
            </a:r>
          </a:p>
          <a:p>
            <a:pPr lvl="1">
              <a:defRPr/>
            </a:pPr>
            <a:r>
              <a:rPr lang="en-AU" dirty="0" err="1" smtClean="0"/>
              <a:t>Perilaku</a:t>
            </a:r>
            <a:r>
              <a:rPr lang="en-AU" dirty="0" smtClean="0"/>
              <a:t> / Behaviour</a:t>
            </a:r>
          </a:p>
          <a:p>
            <a:pPr lvl="1">
              <a:defRPr/>
            </a:pPr>
            <a:r>
              <a:rPr lang="en-AU" dirty="0" err="1" smtClean="0"/>
              <a:t>Sifat</a:t>
            </a:r>
            <a:r>
              <a:rPr lang="en-AU" dirty="0" smtClean="0"/>
              <a:t> / Attitude</a:t>
            </a:r>
          </a:p>
          <a:p>
            <a:pPr lvl="1">
              <a:defRPr/>
            </a:pPr>
            <a:r>
              <a:rPr lang="en-AU" dirty="0" err="1" smtClean="0"/>
              <a:t>Karakterisitik</a:t>
            </a:r>
            <a:endParaRPr lang="en-AU" dirty="0" smtClean="0"/>
          </a:p>
          <a:p>
            <a:pPr lvl="1">
              <a:defRPr/>
            </a:pPr>
            <a:r>
              <a:rPr lang="en-AU" dirty="0" err="1" smtClean="0"/>
              <a:t>Harapan</a:t>
            </a:r>
            <a:r>
              <a:rPr lang="en-AU" dirty="0" smtClean="0"/>
              <a:t> / Expectations</a:t>
            </a:r>
          </a:p>
          <a:p>
            <a:pPr lvl="1">
              <a:defRPr/>
            </a:pPr>
            <a:r>
              <a:rPr lang="en-AU" dirty="0" err="1" smtClean="0"/>
              <a:t>Klasifikasi</a:t>
            </a:r>
            <a:endParaRPr lang="en-AU" dirty="0" smtClean="0"/>
          </a:p>
          <a:p>
            <a:pPr lvl="1">
              <a:defRPr/>
            </a:pPr>
            <a:r>
              <a:rPr lang="en-AU" dirty="0" err="1" smtClean="0"/>
              <a:t>Pengetahuan</a:t>
            </a:r>
            <a:r>
              <a:rPr lang="en-AU" dirty="0" smtClean="0"/>
              <a:t> </a:t>
            </a:r>
            <a:r>
              <a:rPr lang="en-AU" dirty="0" smtClean="0"/>
              <a:t>/ Knowledge</a:t>
            </a:r>
            <a:endParaRPr lang="id-ID" dirty="0" smtClean="0"/>
          </a:p>
          <a:p>
            <a:pPr lvl="1">
              <a:buNone/>
              <a:defRPr/>
            </a:pPr>
            <a:endParaRPr lang="id-ID" dirty="0" smtClean="0"/>
          </a:p>
          <a:p>
            <a:pPr lvl="1">
              <a:buNone/>
              <a:defRPr/>
            </a:pPr>
            <a:r>
              <a:rPr lang="id-ID" dirty="0" smtClean="0"/>
              <a:t>NB : Survey bukan untuk menanyakan pendapat</a:t>
            </a:r>
            <a:endParaRPr lang="id-ID" dirty="0" smtClean="0"/>
          </a:p>
          <a:p>
            <a:pPr lvl="1">
              <a:defRPr/>
            </a:pPr>
            <a:endParaRPr lang="id-ID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dirty="0" err="1" smtClean="0"/>
              <a:t>Tahapan</a:t>
            </a:r>
            <a:r>
              <a:rPr lang="en-AU" dirty="0" smtClean="0"/>
              <a:t> Survey</a:t>
            </a:r>
            <a:endParaRPr lang="en-US" dirty="0" smtClean="0"/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762250" y="1676400"/>
            <a:ext cx="4552950" cy="5238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33CC33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 dirty="0" err="1">
                <a:solidFill>
                  <a:srgbClr val="006600"/>
                </a:solidFill>
                <a:latin typeface="Times New Roman" pitchFamily="18" charset="0"/>
              </a:rPr>
              <a:t>Buat</a:t>
            </a:r>
            <a:r>
              <a:rPr lang="en-AU" sz="2800" b="1" dirty="0">
                <a:solidFill>
                  <a:srgbClr val="006600"/>
                </a:solidFill>
                <a:latin typeface="Times New Roman" pitchFamily="18" charset="0"/>
              </a:rPr>
              <a:t> </a:t>
            </a:r>
            <a:r>
              <a:rPr lang="en-AU" sz="2800" b="1" dirty="0" err="1">
                <a:solidFill>
                  <a:srgbClr val="006600"/>
                </a:solidFill>
                <a:latin typeface="Times New Roman" pitchFamily="18" charset="0"/>
              </a:rPr>
              <a:t>Instrumen</a:t>
            </a:r>
            <a:endParaRPr lang="en-US" sz="28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762250" y="2695575"/>
            <a:ext cx="4537075" cy="5286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33CC33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 dirty="0" err="1">
                <a:solidFill>
                  <a:srgbClr val="006600"/>
                </a:solidFill>
                <a:latin typeface="Times New Roman" pitchFamily="18" charset="0"/>
              </a:rPr>
              <a:t>Uji</a:t>
            </a:r>
            <a:r>
              <a:rPr lang="en-AU" sz="2800" b="1" dirty="0">
                <a:solidFill>
                  <a:srgbClr val="006600"/>
                </a:solidFill>
                <a:latin typeface="Times New Roman" pitchFamily="18" charset="0"/>
              </a:rPr>
              <a:t> </a:t>
            </a:r>
            <a:r>
              <a:rPr lang="en-AU" sz="2800" b="1" dirty="0" err="1">
                <a:solidFill>
                  <a:srgbClr val="006600"/>
                </a:solidFill>
                <a:latin typeface="Times New Roman" pitchFamily="18" charset="0"/>
              </a:rPr>
              <a:t>Instrumen</a:t>
            </a:r>
            <a:endParaRPr lang="en-US" sz="2800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2762250" y="3716338"/>
            <a:ext cx="4537075" cy="528637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33CC33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006600"/>
                </a:solidFill>
                <a:latin typeface="Times New Roman" pitchFamily="18" charset="0"/>
              </a:rPr>
              <a:t>Tentukan Sample</a:t>
            </a:r>
            <a:endParaRPr lang="en-US" sz="2800" b="1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2762250" y="4735513"/>
            <a:ext cx="4537075" cy="528637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33CC33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006600"/>
                </a:solidFill>
                <a:latin typeface="Times New Roman" pitchFamily="18" charset="0"/>
              </a:rPr>
              <a:t>Interaksi dengan Subyek</a:t>
            </a:r>
            <a:endParaRPr lang="en-US" sz="2800" b="1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2762250" y="5756275"/>
            <a:ext cx="4537075" cy="5286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33CC33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006600"/>
                </a:solidFill>
                <a:latin typeface="Times New Roman" pitchFamily="18" charset="0"/>
              </a:rPr>
              <a:t>Analisis Data</a:t>
            </a:r>
            <a:endParaRPr lang="en-US" sz="2800" b="1">
              <a:solidFill>
                <a:srgbClr val="006600"/>
              </a:solidFill>
              <a:latin typeface="Times New Roman" pitchFamily="18" charset="0"/>
            </a:endParaRPr>
          </a:p>
        </p:txBody>
      </p:sp>
      <p:cxnSp>
        <p:nvCxnSpPr>
          <p:cNvPr id="6152" name="AutoShape 8"/>
          <p:cNvCxnSpPr>
            <a:cxnSpLocks noChangeShapeType="1"/>
            <a:stCxn id="6147" idx="2"/>
            <a:endCxn id="6148" idx="0"/>
          </p:cNvCxnSpPr>
          <p:nvPr/>
        </p:nvCxnSpPr>
        <p:spPr bwMode="auto">
          <a:xfrm rot="5400000">
            <a:off x="4787107" y="2443956"/>
            <a:ext cx="495300" cy="79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</p:cxnSp>
      <p:cxnSp>
        <p:nvCxnSpPr>
          <p:cNvPr id="6153" name="AutoShape 9"/>
          <p:cNvCxnSpPr>
            <a:cxnSpLocks noChangeShapeType="1"/>
            <a:stCxn id="6148" idx="2"/>
            <a:endCxn id="6149" idx="0"/>
          </p:cNvCxnSpPr>
          <p:nvPr/>
        </p:nvCxnSpPr>
        <p:spPr bwMode="auto">
          <a:xfrm>
            <a:off x="5030788" y="3224213"/>
            <a:ext cx="0" cy="4921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</p:cxnSp>
      <p:cxnSp>
        <p:nvCxnSpPr>
          <p:cNvPr id="6154" name="AutoShape 10"/>
          <p:cNvCxnSpPr>
            <a:cxnSpLocks noChangeShapeType="1"/>
            <a:stCxn id="6149" idx="2"/>
            <a:endCxn id="6150" idx="0"/>
          </p:cNvCxnSpPr>
          <p:nvPr/>
        </p:nvCxnSpPr>
        <p:spPr bwMode="auto">
          <a:xfrm>
            <a:off x="5030788" y="4244975"/>
            <a:ext cx="0" cy="4905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</p:cxnSp>
      <p:cxnSp>
        <p:nvCxnSpPr>
          <p:cNvPr id="6155" name="AutoShape 11"/>
          <p:cNvCxnSpPr>
            <a:cxnSpLocks noChangeShapeType="1"/>
            <a:stCxn id="6150" idx="2"/>
            <a:endCxn id="6151" idx="0"/>
          </p:cNvCxnSpPr>
          <p:nvPr/>
        </p:nvCxnSpPr>
        <p:spPr bwMode="auto">
          <a:xfrm>
            <a:off x="5030788" y="5264150"/>
            <a:ext cx="0" cy="4921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</p:cxnSp>
      <p:cxnSp>
        <p:nvCxnSpPr>
          <p:cNvPr id="6156" name="AutoShape 12"/>
          <p:cNvCxnSpPr>
            <a:cxnSpLocks noChangeShapeType="1"/>
            <a:stCxn id="6148" idx="3"/>
            <a:endCxn id="6147" idx="3"/>
          </p:cNvCxnSpPr>
          <p:nvPr/>
        </p:nvCxnSpPr>
        <p:spPr bwMode="auto">
          <a:xfrm flipV="1">
            <a:off x="7299325" y="1938338"/>
            <a:ext cx="15875" cy="1022350"/>
          </a:xfrm>
          <a:prstGeom prst="curvedConnector3">
            <a:avLst>
              <a:gd name="adj1" fmla="val 1540000"/>
            </a:avLst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</p:spPr>
      </p:cxnSp>
      <p:sp>
        <p:nvSpPr>
          <p:cNvPr id="6157" name="Text Box 16"/>
          <p:cNvSpPr txBox="1">
            <a:spLocks noChangeArrowheads="1"/>
          </p:cNvSpPr>
          <p:nvPr/>
        </p:nvSpPr>
        <p:spPr bwMode="auto">
          <a:xfrm>
            <a:off x="1555750" y="1724025"/>
            <a:ext cx="1331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400" dirty="0">
                <a:latin typeface="Times New Roman" pitchFamily="18" charset="0"/>
              </a:rPr>
              <a:t>Phase 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6158" name="Text Box 17"/>
          <p:cNvSpPr txBox="1">
            <a:spLocks noChangeArrowheads="1"/>
          </p:cNvSpPr>
          <p:nvPr/>
        </p:nvSpPr>
        <p:spPr bwMode="auto">
          <a:xfrm>
            <a:off x="1555750" y="2755900"/>
            <a:ext cx="1331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400">
                <a:latin typeface="Times New Roman" pitchFamily="18" charset="0"/>
              </a:rPr>
              <a:t>Phase 2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6159" name="Text Box 18"/>
          <p:cNvSpPr txBox="1">
            <a:spLocks noChangeArrowheads="1"/>
          </p:cNvSpPr>
          <p:nvPr/>
        </p:nvSpPr>
        <p:spPr bwMode="auto">
          <a:xfrm>
            <a:off x="1555750" y="3763963"/>
            <a:ext cx="1331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400">
                <a:latin typeface="Times New Roman" pitchFamily="18" charset="0"/>
              </a:rPr>
              <a:t>Phase 3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6160" name="Text Box 19"/>
          <p:cNvSpPr txBox="1">
            <a:spLocks noChangeArrowheads="1"/>
          </p:cNvSpPr>
          <p:nvPr/>
        </p:nvSpPr>
        <p:spPr bwMode="auto">
          <a:xfrm>
            <a:off x="1555750" y="4772025"/>
            <a:ext cx="1331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400">
                <a:latin typeface="Times New Roman" pitchFamily="18" charset="0"/>
              </a:rPr>
              <a:t>Phase 4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6161" name="Text Box 20"/>
          <p:cNvSpPr txBox="1">
            <a:spLocks noChangeArrowheads="1"/>
          </p:cNvSpPr>
          <p:nvPr/>
        </p:nvSpPr>
        <p:spPr bwMode="auto">
          <a:xfrm>
            <a:off x="1555750" y="5781675"/>
            <a:ext cx="1331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400">
                <a:latin typeface="Times New Roman" pitchFamily="18" charset="0"/>
              </a:rPr>
              <a:t>Phase 5</a:t>
            </a:r>
            <a:endParaRPr lang="en-US" sz="24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AU" dirty="0" smtClean="0"/>
              <a:t>Phase 1: </a:t>
            </a:r>
            <a:r>
              <a:rPr lang="en-AU" dirty="0" err="1" smtClean="0"/>
              <a:t>Buat</a:t>
            </a:r>
            <a:r>
              <a:rPr lang="en-AU" dirty="0" smtClean="0"/>
              <a:t> Instrument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AU" dirty="0" err="1" smtClean="0"/>
              <a:t>Tentukan</a:t>
            </a:r>
            <a:r>
              <a:rPr lang="en-AU" dirty="0" smtClean="0"/>
              <a:t> </a:t>
            </a:r>
            <a:r>
              <a:rPr lang="en-AU" dirty="0" err="1" smtClean="0"/>
              <a:t>hipotesa</a:t>
            </a:r>
            <a:r>
              <a:rPr lang="en-AU" dirty="0" smtClean="0"/>
              <a:t> yang </a:t>
            </a:r>
            <a:r>
              <a:rPr lang="en-AU" dirty="0" err="1" smtClean="0"/>
              <a:t>ingin</a:t>
            </a:r>
            <a:r>
              <a:rPr lang="en-AU" dirty="0" smtClean="0"/>
              <a:t> </a:t>
            </a:r>
            <a:r>
              <a:rPr lang="en-AU" dirty="0" err="1" smtClean="0"/>
              <a:t>diuji</a:t>
            </a:r>
            <a:endParaRPr lang="en-AU" dirty="0" smtClean="0"/>
          </a:p>
          <a:p>
            <a:pPr>
              <a:defRPr/>
            </a:pPr>
            <a:r>
              <a:rPr lang="en-AU" dirty="0" err="1" smtClean="0"/>
              <a:t>Tentukan</a:t>
            </a:r>
            <a:r>
              <a:rPr lang="en-AU" dirty="0" smtClean="0"/>
              <a:t> </a:t>
            </a:r>
            <a:r>
              <a:rPr lang="en-AU" dirty="0" err="1" smtClean="0"/>
              <a:t>jenis</a:t>
            </a:r>
            <a:r>
              <a:rPr lang="en-AU" dirty="0" smtClean="0"/>
              <a:t> survey</a:t>
            </a:r>
          </a:p>
          <a:p>
            <a:pPr lvl="1">
              <a:defRPr/>
            </a:pPr>
            <a:r>
              <a:rPr lang="en-AU" dirty="0" smtClean="0"/>
              <a:t>Questionnaire</a:t>
            </a:r>
          </a:p>
          <a:p>
            <a:pPr lvl="1">
              <a:defRPr/>
            </a:pPr>
            <a:r>
              <a:rPr lang="en-AU" dirty="0" smtClean="0"/>
              <a:t>Interview</a:t>
            </a:r>
            <a:endParaRPr lang="id-ID" dirty="0" smtClean="0"/>
          </a:p>
          <a:p>
            <a:pPr lvl="1">
              <a:defRPr/>
            </a:pPr>
            <a:r>
              <a:rPr lang="id-ID" dirty="0" smtClean="0"/>
              <a:t>dll</a:t>
            </a:r>
            <a:endParaRPr lang="en-AU" dirty="0" smtClean="0"/>
          </a:p>
          <a:p>
            <a:pPr>
              <a:defRPr/>
            </a:pPr>
            <a:r>
              <a:rPr lang="en-AU" dirty="0" err="1" smtClean="0"/>
              <a:t>Tuliskan</a:t>
            </a:r>
            <a:r>
              <a:rPr lang="en-AU" dirty="0" smtClean="0"/>
              <a:t> </a:t>
            </a:r>
            <a:r>
              <a:rPr lang="en-AU" dirty="0" err="1" smtClean="0"/>
              <a:t>pertanyaan</a:t>
            </a:r>
            <a:r>
              <a:rPr lang="en-AU" dirty="0" smtClean="0"/>
              <a:t> survey</a:t>
            </a:r>
          </a:p>
          <a:p>
            <a:pPr>
              <a:defRPr/>
            </a:pPr>
            <a:r>
              <a:rPr lang="en-AU" dirty="0" err="1" smtClean="0"/>
              <a:t>Tentukan</a:t>
            </a:r>
            <a:r>
              <a:rPr lang="en-AU" dirty="0" smtClean="0"/>
              <a:t> </a:t>
            </a:r>
            <a:r>
              <a:rPr lang="en-AU" dirty="0" err="1" smtClean="0"/>
              <a:t>kategori</a:t>
            </a:r>
            <a:r>
              <a:rPr lang="en-AU" dirty="0" smtClean="0"/>
              <a:t> </a:t>
            </a:r>
            <a:r>
              <a:rPr lang="en-AU" dirty="0" err="1" smtClean="0"/>
              <a:t>respon</a:t>
            </a:r>
            <a:endParaRPr lang="id-ID" dirty="0" smtClean="0"/>
          </a:p>
          <a:p>
            <a:pPr>
              <a:buNone/>
              <a:defRPr/>
            </a:pPr>
            <a:r>
              <a:rPr lang="id-ID" dirty="0" smtClean="0"/>
              <a:t>	- nominal, ordinal, interval</a:t>
            </a:r>
            <a:endParaRPr lang="en-AU" dirty="0" smtClean="0"/>
          </a:p>
          <a:p>
            <a:pPr>
              <a:defRPr/>
            </a:pPr>
            <a:r>
              <a:rPr lang="en-AU" dirty="0" err="1" smtClean="0"/>
              <a:t>Desain</a:t>
            </a:r>
            <a:r>
              <a:rPr lang="en-AU" dirty="0" smtClean="0"/>
              <a:t> layout survey</a:t>
            </a:r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AU" dirty="0" smtClean="0"/>
              <a:t>Phase 1: </a:t>
            </a:r>
            <a:r>
              <a:rPr lang="en-AU" dirty="0" err="1" smtClean="0"/>
              <a:t>Buat</a:t>
            </a:r>
            <a:r>
              <a:rPr lang="en-AU" dirty="0" smtClean="0"/>
              <a:t> Instrument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id-ID" dirty="0" smtClean="0"/>
              <a:t>Questionaire :</a:t>
            </a:r>
          </a:p>
          <a:p>
            <a:pPr>
              <a:defRPr/>
            </a:pPr>
            <a:r>
              <a:rPr lang="en-AU" dirty="0" err="1" smtClean="0"/>
              <a:t>Bermanfaat</a:t>
            </a:r>
            <a:r>
              <a:rPr lang="en-AU" dirty="0" smtClean="0"/>
              <a:t> </a:t>
            </a:r>
            <a:r>
              <a:rPr lang="en-AU" dirty="0" err="1" smtClean="0"/>
              <a:t>ketika</a:t>
            </a:r>
            <a:r>
              <a:rPr lang="en-AU" dirty="0" smtClean="0"/>
              <a:t> data yang </a:t>
            </a:r>
            <a:r>
              <a:rPr lang="en-AU" dirty="0" err="1" smtClean="0"/>
              <a:t>dikumpulkan</a:t>
            </a:r>
            <a:r>
              <a:rPr lang="en-AU" dirty="0" smtClean="0"/>
              <a:t> </a:t>
            </a:r>
            <a:r>
              <a:rPr lang="en-AU" dirty="0" err="1" smtClean="0"/>
              <a:t>terstruktur</a:t>
            </a:r>
            <a:r>
              <a:rPr lang="en-AU" dirty="0" smtClean="0"/>
              <a:t> </a:t>
            </a:r>
            <a:r>
              <a:rPr lang="en-AU" dirty="0" err="1" smtClean="0"/>
              <a:t>dan</a:t>
            </a:r>
            <a:r>
              <a:rPr lang="en-AU" dirty="0" smtClean="0"/>
              <a:t> </a:t>
            </a:r>
            <a:r>
              <a:rPr lang="en-AU" dirty="0" smtClean="0"/>
              <a:t>sample </a:t>
            </a:r>
            <a:r>
              <a:rPr lang="en-AU" dirty="0" err="1" smtClean="0"/>
              <a:t>berasal</a:t>
            </a:r>
            <a:r>
              <a:rPr lang="en-AU" dirty="0" smtClean="0"/>
              <a:t> </a:t>
            </a:r>
            <a:r>
              <a:rPr lang="en-AU" dirty="0" err="1" smtClean="0"/>
              <a:t>dari</a:t>
            </a:r>
            <a:r>
              <a:rPr lang="en-AU" dirty="0" smtClean="0"/>
              <a:t> </a:t>
            </a:r>
            <a:r>
              <a:rPr lang="en-AU" dirty="0" err="1" smtClean="0"/>
              <a:t>populasi</a:t>
            </a:r>
            <a:r>
              <a:rPr lang="en-AU" dirty="0" smtClean="0"/>
              <a:t> yang </a:t>
            </a:r>
            <a:r>
              <a:rPr lang="en-AU" dirty="0" err="1" smtClean="0"/>
              <a:t>luas</a:t>
            </a:r>
            <a:r>
              <a:rPr lang="en-AU" dirty="0" smtClean="0"/>
              <a:t>.</a:t>
            </a:r>
            <a:endParaRPr lang="id-ID" dirty="0" smtClean="0"/>
          </a:p>
          <a:p>
            <a:pPr>
              <a:defRPr/>
            </a:pPr>
            <a:r>
              <a:rPr lang="en-AU" dirty="0" err="1" smtClean="0"/>
              <a:t>Menyangkut</a:t>
            </a:r>
            <a:r>
              <a:rPr lang="en-AU" dirty="0" smtClean="0"/>
              <a:t> </a:t>
            </a:r>
            <a:r>
              <a:rPr lang="en-AU" dirty="0" err="1" smtClean="0"/>
              <a:t>subyek</a:t>
            </a:r>
            <a:r>
              <a:rPr lang="en-AU" dirty="0" smtClean="0"/>
              <a:t> yang </a:t>
            </a:r>
            <a:r>
              <a:rPr lang="en-AU" dirty="0" err="1" smtClean="0"/>
              <a:t>banyak</a:t>
            </a:r>
            <a:r>
              <a:rPr lang="en-AU" dirty="0" smtClean="0"/>
              <a:t>, </a:t>
            </a:r>
            <a:r>
              <a:rPr lang="en-AU" dirty="0" err="1" smtClean="0"/>
              <a:t>misalnya</a:t>
            </a:r>
            <a:r>
              <a:rPr lang="en-AU" dirty="0" smtClean="0"/>
              <a:t> 50 – </a:t>
            </a:r>
            <a:r>
              <a:rPr lang="en-AU" dirty="0" smtClean="0"/>
              <a:t>1000</a:t>
            </a:r>
            <a:r>
              <a:rPr lang="id-ID" dirty="0" smtClean="0"/>
              <a:t> subyek</a:t>
            </a:r>
            <a:endParaRPr lang="en-AU" dirty="0" smtClean="0"/>
          </a:p>
          <a:p>
            <a:pPr>
              <a:buNone/>
              <a:defRPr/>
            </a:pPr>
            <a:r>
              <a:rPr lang="en-AU" dirty="0" smtClean="0"/>
              <a:t> 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AU" dirty="0" smtClean="0"/>
              <a:t>Phase 1: </a:t>
            </a:r>
            <a:r>
              <a:rPr lang="en-AU" dirty="0" err="1" smtClean="0"/>
              <a:t>Buat</a:t>
            </a:r>
            <a:r>
              <a:rPr lang="en-AU" dirty="0" smtClean="0"/>
              <a:t> Instrument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en-AU" dirty="0" err="1" smtClean="0"/>
              <a:t>Keuntungan</a:t>
            </a:r>
            <a:endParaRPr lang="en-AU" dirty="0" smtClean="0"/>
          </a:p>
          <a:p>
            <a:pPr lvl="1">
              <a:defRPr/>
            </a:pPr>
            <a:r>
              <a:rPr lang="en-AU" dirty="0" smtClean="0"/>
              <a:t>Cost effective</a:t>
            </a:r>
          </a:p>
          <a:p>
            <a:pPr lvl="1">
              <a:defRPr/>
            </a:pPr>
            <a:r>
              <a:rPr lang="en-AU" dirty="0" err="1" smtClean="0"/>
              <a:t>Dapat</a:t>
            </a:r>
            <a:r>
              <a:rPr lang="en-AU" dirty="0" smtClean="0"/>
              <a:t> </a:t>
            </a:r>
            <a:r>
              <a:rPr lang="en-AU" dirty="0" err="1" smtClean="0"/>
              <a:t>menjangkau</a:t>
            </a:r>
            <a:r>
              <a:rPr lang="en-AU" dirty="0" smtClean="0"/>
              <a:t> area yang </a:t>
            </a:r>
            <a:r>
              <a:rPr lang="en-AU" dirty="0" err="1" smtClean="0"/>
              <a:t>luas</a:t>
            </a:r>
            <a:endParaRPr lang="en-AU" dirty="0" smtClean="0"/>
          </a:p>
          <a:p>
            <a:pPr lvl="1">
              <a:defRPr/>
            </a:pPr>
            <a:r>
              <a:rPr lang="en-AU" dirty="0" err="1" smtClean="0"/>
              <a:t>Dapat</a:t>
            </a:r>
            <a:r>
              <a:rPr lang="en-AU" dirty="0" smtClean="0"/>
              <a:t> </a:t>
            </a:r>
            <a:r>
              <a:rPr lang="en-AU" dirty="0" err="1" smtClean="0"/>
              <a:t>dilengkapi</a:t>
            </a:r>
            <a:r>
              <a:rPr lang="en-AU" dirty="0" smtClean="0"/>
              <a:t> </a:t>
            </a:r>
            <a:r>
              <a:rPr lang="en-AU" dirty="0" err="1" smtClean="0"/>
              <a:t>pada</a:t>
            </a:r>
            <a:r>
              <a:rPr lang="en-AU" dirty="0" smtClean="0"/>
              <a:t> </a:t>
            </a:r>
            <a:r>
              <a:rPr lang="en-AU" dirty="0" err="1" smtClean="0"/>
              <a:t>saat</a:t>
            </a:r>
            <a:r>
              <a:rPr lang="en-AU" dirty="0" smtClean="0"/>
              <a:t> yang </a:t>
            </a:r>
            <a:r>
              <a:rPr lang="en-AU" dirty="0" err="1" smtClean="0"/>
              <a:t>diinginkan</a:t>
            </a:r>
            <a:r>
              <a:rPr lang="en-AU" dirty="0" smtClean="0"/>
              <a:t> </a:t>
            </a:r>
            <a:r>
              <a:rPr lang="en-AU" dirty="0" err="1" smtClean="0"/>
              <a:t>oleh</a:t>
            </a:r>
            <a:r>
              <a:rPr lang="en-AU" dirty="0" smtClean="0"/>
              <a:t> </a:t>
            </a:r>
            <a:r>
              <a:rPr lang="en-AU" dirty="0" err="1" smtClean="0"/>
              <a:t>subyek</a:t>
            </a:r>
            <a:endParaRPr lang="en-AU" dirty="0" smtClean="0"/>
          </a:p>
          <a:p>
            <a:pPr lvl="1">
              <a:defRPr/>
            </a:pPr>
            <a:r>
              <a:rPr lang="en-AU" dirty="0" smtClean="0"/>
              <a:t>Relatively anonymous</a:t>
            </a:r>
          </a:p>
          <a:p>
            <a:pPr>
              <a:buNone/>
              <a:defRPr/>
            </a:pPr>
            <a:r>
              <a:rPr lang="en-AU" dirty="0" err="1" smtClean="0"/>
              <a:t>Kerugian</a:t>
            </a:r>
            <a:endParaRPr lang="en-AU" dirty="0" smtClean="0"/>
          </a:p>
          <a:p>
            <a:pPr lvl="1">
              <a:defRPr/>
            </a:pPr>
            <a:r>
              <a:rPr lang="en-AU" dirty="0" err="1" smtClean="0"/>
              <a:t>Tidak</a:t>
            </a:r>
            <a:r>
              <a:rPr lang="en-AU" dirty="0" smtClean="0"/>
              <a:t> </a:t>
            </a:r>
            <a:r>
              <a:rPr lang="en-AU" dirty="0" err="1" smtClean="0"/>
              <a:t>semua</a:t>
            </a:r>
            <a:r>
              <a:rPr lang="en-AU" dirty="0" smtClean="0"/>
              <a:t> </a:t>
            </a:r>
            <a:r>
              <a:rPr lang="en-AU" dirty="0" err="1" smtClean="0"/>
              <a:t>ku</a:t>
            </a:r>
            <a:r>
              <a:rPr lang="id-ID" dirty="0" smtClean="0"/>
              <a:t>e</a:t>
            </a:r>
            <a:r>
              <a:rPr lang="en-AU" dirty="0" err="1" smtClean="0"/>
              <a:t>sionaire</a:t>
            </a:r>
            <a:r>
              <a:rPr lang="en-AU" dirty="0" smtClean="0"/>
              <a:t> </a:t>
            </a:r>
            <a:r>
              <a:rPr lang="en-AU" dirty="0" err="1" smtClean="0"/>
              <a:t>dilengkapi</a:t>
            </a:r>
            <a:r>
              <a:rPr lang="en-AU" dirty="0" smtClean="0"/>
              <a:t> </a:t>
            </a:r>
            <a:r>
              <a:rPr lang="en-AU" dirty="0" err="1" smtClean="0"/>
              <a:t>atau</a:t>
            </a:r>
            <a:r>
              <a:rPr lang="en-AU" dirty="0" smtClean="0"/>
              <a:t> </a:t>
            </a:r>
            <a:r>
              <a:rPr lang="en-AU" dirty="0" err="1" smtClean="0"/>
              <a:t>dikembalikan</a:t>
            </a:r>
            <a:endParaRPr lang="en-AU" dirty="0" smtClean="0"/>
          </a:p>
          <a:p>
            <a:pPr lvl="1">
              <a:defRPr/>
            </a:pPr>
            <a:r>
              <a:rPr lang="en-AU" dirty="0" err="1" smtClean="0"/>
              <a:t>Kondisi</a:t>
            </a:r>
            <a:r>
              <a:rPr lang="en-AU" dirty="0" smtClean="0"/>
              <a:t> </a:t>
            </a:r>
            <a:r>
              <a:rPr lang="en-AU" dirty="0" err="1" smtClean="0"/>
              <a:t>subyek</a:t>
            </a:r>
            <a:r>
              <a:rPr lang="en-AU" dirty="0" smtClean="0"/>
              <a:t> </a:t>
            </a:r>
            <a:r>
              <a:rPr lang="en-AU" dirty="0" err="1" smtClean="0"/>
              <a:t>tidak</a:t>
            </a:r>
            <a:r>
              <a:rPr lang="en-AU" dirty="0" smtClean="0"/>
              <a:t> </a:t>
            </a:r>
            <a:r>
              <a:rPr lang="en-AU" dirty="0" err="1" smtClean="0"/>
              <a:t>terkontrol</a:t>
            </a:r>
            <a:endParaRPr lang="en-AU" dirty="0" smtClean="0"/>
          </a:p>
          <a:p>
            <a:pPr lvl="1">
              <a:defRPr/>
            </a:pPr>
            <a:r>
              <a:rPr lang="en-AU" dirty="0" err="1" smtClean="0"/>
              <a:t>Pertanyaan</a:t>
            </a:r>
            <a:r>
              <a:rPr lang="en-AU" dirty="0" smtClean="0"/>
              <a:t> </a:t>
            </a:r>
            <a:r>
              <a:rPr lang="en-AU" dirty="0" err="1" smtClean="0"/>
              <a:t>subyek</a:t>
            </a:r>
            <a:r>
              <a:rPr lang="en-AU" dirty="0" smtClean="0"/>
              <a:t> (</a:t>
            </a:r>
            <a:r>
              <a:rPr lang="en-AU" dirty="0" err="1" smtClean="0"/>
              <a:t>jika</a:t>
            </a:r>
            <a:r>
              <a:rPr lang="en-AU" dirty="0" smtClean="0"/>
              <a:t> </a:t>
            </a:r>
            <a:r>
              <a:rPr lang="en-AU" dirty="0" err="1" smtClean="0"/>
              <a:t>ada</a:t>
            </a:r>
            <a:r>
              <a:rPr lang="en-AU" dirty="0" smtClean="0"/>
              <a:t>) </a:t>
            </a:r>
            <a:r>
              <a:rPr lang="en-AU" dirty="0" err="1" smtClean="0"/>
              <a:t>tidak</a:t>
            </a:r>
            <a:r>
              <a:rPr lang="en-AU" dirty="0" smtClean="0"/>
              <a:t> </a:t>
            </a:r>
            <a:r>
              <a:rPr lang="en-AU" dirty="0" err="1" smtClean="0"/>
              <a:t>dapat</a:t>
            </a:r>
            <a:r>
              <a:rPr lang="en-AU" dirty="0" smtClean="0"/>
              <a:t> </a:t>
            </a:r>
            <a:r>
              <a:rPr lang="en-AU" dirty="0" err="1" smtClean="0"/>
              <a:t>terjawab</a:t>
            </a:r>
            <a:endParaRPr lang="en-AU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AU" dirty="0" smtClean="0"/>
              <a:t>Phase 1: </a:t>
            </a:r>
            <a:r>
              <a:rPr lang="en-AU" dirty="0" err="1" smtClean="0"/>
              <a:t>Buat</a:t>
            </a:r>
            <a:r>
              <a:rPr lang="en-AU" dirty="0" smtClean="0"/>
              <a:t> Instrument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id-ID" dirty="0" smtClean="0"/>
              <a:t>Interview, FGD :</a:t>
            </a:r>
          </a:p>
          <a:p>
            <a:pPr>
              <a:defRPr/>
            </a:pPr>
            <a:r>
              <a:rPr lang="en-AU" dirty="0" err="1" smtClean="0"/>
              <a:t>Informasi</a:t>
            </a:r>
            <a:r>
              <a:rPr lang="en-AU" dirty="0" smtClean="0"/>
              <a:t> </a:t>
            </a:r>
            <a:r>
              <a:rPr lang="en-AU" dirty="0" err="1" smtClean="0"/>
              <a:t>diperoleh</a:t>
            </a:r>
            <a:r>
              <a:rPr lang="en-AU" dirty="0" smtClean="0"/>
              <a:t> </a:t>
            </a:r>
            <a:r>
              <a:rPr lang="en-AU" dirty="0" err="1" smtClean="0"/>
              <a:t>melalui</a:t>
            </a:r>
            <a:r>
              <a:rPr lang="en-AU" dirty="0" smtClean="0"/>
              <a:t> </a:t>
            </a:r>
            <a:r>
              <a:rPr lang="en-AU" dirty="0" err="1" smtClean="0"/>
              <a:t>percakapan</a:t>
            </a:r>
            <a:r>
              <a:rPr lang="en-AU" dirty="0" smtClean="0"/>
              <a:t> </a:t>
            </a:r>
            <a:r>
              <a:rPr lang="en-AU" dirty="0" err="1" smtClean="0"/>
              <a:t>terstruktur</a:t>
            </a:r>
            <a:r>
              <a:rPr lang="en-AU" dirty="0" smtClean="0"/>
              <a:t> </a:t>
            </a:r>
            <a:r>
              <a:rPr lang="en-AU" dirty="0" err="1" smtClean="0"/>
              <a:t>dimana</a:t>
            </a:r>
            <a:r>
              <a:rPr lang="en-AU" dirty="0" smtClean="0"/>
              <a:t> interviewer </a:t>
            </a:r>
            <a:r>
              <a:rPr lang="en-AU" dirty="0" err="1" smtClean="0"/>
              <a:t>menanyakan</a:t>
            </a:r>
            <a:r>
              <a:rPr lang="en-AU" dirty="0" smtClean="0"/>
              <a:t> </a:t>
            </a:r>
            <a:r>
              <a:rPr lang="en-AU" dirty="0" err="1" smtClean="0"/>
              <a:t>pertanyaan</a:t>
            </a:r>
            <a:r>
              <a:rPr lang="en-AU" dirty="0" smtClean="0"/>
              <a:t> yang </a:t>
            </a:r>
            <a:r>
              <a:rPr lang="en-AU" dirty="0" err="1" smtClean="0"/>
              <a:t>telah</a:t>
            </a:r>
            <a:r>
              <a:rPr lang="en-AU" dirty="0" smtClean="0"/>
              <a:t> </a:t>
            </a:r>
            <a:r>
              <a:rPr lang="en-AU" dirty="0" err="1" smtClean="0"/>
              <a:t>disiapkan</a:t>
            </a:r>
            <a:r>
              <a:rPr lang="en-AU" dirty="0" smtClean="0"/>
              <a:t> </a:t>
            </a:r>
            <a:r>
              <a:rPr lang="en-AU" dirty="0" err="1" smtClean="0"/>
              <a:t>dan</a:t>
            </a:r>
            <a:r>
              <a:rPr lang="en-AU" dirty="0" smtClean="0"/>
              <a:t> </a:t>
            </a:r>
            <a:r>
              <a:rPr lang="en-AU" dirty="0" err="1" smtClean="0"/>
              <a:t>merekam</a:t>
            </a:r>
            <a:r>
              <a:rPr lang="en-AU" dirty="0" smtClean="0"/>
              <a:t> </a:t>
            </a:r>
            <a:r>
              <a:rPr lang="en-AU" dirty="0" err="1" smtClean="0"/>
              <a:t>jawaban</a:t>
            </a:r>
            <a:r>
              <a:rPr lang="en-AU" dirty="0" smtClean="0"/>
              <a:t> </a:t>
            </a:r>
            <a:r>
              <a:rPr lang="en-AU" dirty="0" err="1" smtClean="0"/>
              <a:t>responden</a:t>
            </a:r>
            <a:endParaRPr lang="en-AU" dirty="0" smtClean="0"/>
          </a:p>
          <a:p>
            <a:pPr>
              <a:defRPr/>
            </a:pPr>
            <a:r>
              <a:rPr lang="en-AU" dirty="0" err="1" smtClean="0"/>
              <a:t>Bermanfaat</a:t>
            </a:r>
            <a:r>
              <a:rPr lang="en-AU" dirty="0" smtClean="0"/>
              <a:t> </a:t>
            </a:r>
            <a:r>
              <a:rPr lang="en-AU" dirty="0" err="1" smtClean="0"/>
              <a:t>ketika</a:t>
            </a:r>
            <a:r>
              <a:rPr lang="en-AU" dirty="0" smtClean="0"/>
              <a:t> </a:t>
            </a:r>
            <a:r>
              <a:rPr lang="en-AU" dirty="0" err="1" smtClean="0"/>
              <a:t>diperlukan</a:t>
            </a:r>
            <a:r>
              <a:rPr lang="en-AU" dirty="0" smtClean="0"/>
              <a:t> </a:t>
            </a:r>
            <a:r>
              <a:rPr lang="en-AU" dirty="0" err="1" smtClean="0"/>
              <a:t>informasi</a:t>
            </a:r>
            <a:r>
              <a:rPr lang="en-AU" dirty="0" smtClean="0"/>
              <a:t> </a:t>
            </a:r>
            <a:r>
              <a:rPr lang="en-AU" dirty="0" err="1" smtClean="0"/>
              <a:t>mendalam</a:t>
            </a:r>
            <a:r>
              <a:rPr lang="en-AU" dirty="0" smtClean="0"/>
              <a:t> </a:t>
            </a:r>
            <a:r>
              <a:rPr lang="en-AU" dirty="0" err="1" smtClean="0"/>
              <a:t>dan</a:t>
            </a:r>
            <a:r>
              <a:rPr lang="en-AU" dirty="0" smtClean="0"/>
              <a:t> </a:t>
            </a:r>
            <a:r>
              <a:rPr lang="en-AU" dirty="0" err="1" smtClean="0"/>
              <a:t>tidak</a:t>
            </a:r>
            <a:r>
              <a:rPr lang="en-AU" dirty="0" smtClean="0"/>
              <a:t> </a:t>
            </a:r>
            <a:r>
              <a:rPr lang="en-AU" dirty="0" err="1" smtClean="0"/>
              <a:t>terstruktur</a:t>
            </a:r>
            <a:endParaRPr lang="en-AU" dirty="0" smtClean="0"/>
          </a:p>
          <a:p>
            <a:pPr>
              <a:defRPr/>
            </a:pPr>
            <a:r>
              <a:rPr lang="en-AU" dirty="0" err="1" smtClean="0"/>
              <a:t>Berhubungan</a:t>
            </a:r>
            <a:r>
              <a:rPr lang="en-AU" dirty="0" smtClean="0"/>
              <a:t> </a:t>
            </a:r>
            <a:r>
              <a:rPr lang="en-AU" dirty="0" err="1" smtClean="0"/>
              <a:t>dengan</a:t>
            </a:r>
            <a:r>
              <a:rPr lang="en-AU" dirty="0" smtClean="0"/>
              <a:t> </a:t>
            </a:r>
            <a:r>
              <a:rPr lang="en-AU" dirty="0" err="1" smtClean="0"/>
              <a:t>subyek</a:t>
            </a:r>
            <a:r>
              <a:rPr lang="en-AU" dirty="0" smtClean="0"/>
              <a:t> yang </a:t>
            </a:r>
            <a:r>
              <a:rPr lang="en-AU" dirty="0" err="1" smtClean="0"/>
              <a:t>lebih</a:t>
            </a:r>
            <a:r>
              <a:rPr lang="en-AU" dirty="0" smtClean="0"/>
              <a:t> </a:t>
            </a:r>
            <a:r>
              <a:rPr lang="en-AU" dirty="0" err="1" smtClean="0"/>
              <a:t>sedikit</a:t>
            </a:r>
            <a:endParaRPr lang="en-US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AU" dirty="0" smtClean="0"/>
              <a:t>Phase 1: </a:t>
            </a:r>
            <a:r>
              <a:rPr lang="en-AU" dirty="0" err="1" smtClean="0"/>
              <a:t>Buat</a:t>
            </a:r>
            <a:r>
              <a:rPr lang="en-AU" dirty="0" smtClean="0"/>
              <a:t> Instrument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 err="1" smtClean="0"/>
              <a:t>Keuntungan</a:t>
            </a:r>
            <a:endParaRPr lang="en-AU" dirty="0" smtClean="0"/>
          </a:p>
          <a:p>
            <a:pPr lvl="1">
              <a:defRPr/>
            </a:pPr>
            <a:r>
              <a:rPr lang="en-AU" dirty="0" err="1" smtClean="0"/>
              <a:t>Kondisi</a:t>
            </a:r>
            <a:r>
              <a:rPr lang="en-AU" dirty="0" smtClean="0"/>
              <a:t> </a:t>
            </a:r>
            <a:r>
              <a:rPr lang="en-AU" dirty="0" err="1" smtClean="0"/>
              <a:t>lingkungan</a:t>
            </a:r>
            <a:r>
              <a:rPr lang="en-AU" dirty="0" smtClean="0"/>
              <a:t> </a:t>
            </a:r>
            <a:r>
              <a:rPr lang="en-AU" dirty="0" err="1" smtClean="0"/>
              <a:t>dan</a:t>
            </a:r>
            <a:r>
              <a:rPr lang="en-AU" dirty="0" smtClean="0"/>
              <a:t> </a:t>
            </a:r>
            <a:r>
              <a:rPr lang="en-AU" dirty="0" err="1" smtClean="0"/>
              <a:t>komunikasi</a:t>
            </a:r>
            <a:r>
              <a:rPr lang="en-AU" dirty="0" smtClean="0"/>
              <a:t> non-verbal </a:t>
            </a:r>
            <a:r>
              <a:rPr lang="en-AU" dirty="0" err="1" smtClean="0"/>
              <a:t>dapat</a:t>
            </a:r>
            <a:r>
              <a:rPr lang="en-AU" dirty="0" smtClean="0"/>
              <a:t> </a:t>
            </a:r>
            <a:r>
              <a:rPr lang="en-AU" dirty="0" err="1" smtClean="0"/>
              <a:t>direkam</a:t>
            </a:r>
            <a:endParaRPr lang="en-AU" dirty="0" smtClean="0"/>
          </a:p>
          <a:p>
            <a:pPr lvl="1">
              <a:defRPr/>
            </a:pPr>
            <a:r>
              <a:rPr lang="en-AU" dirty="0" err="1" smtClean="0"/>
              <a:t>Pertanyaan</a:t>
            </a:r>
            <a:r>
              <a:rPr lang="en-AU" dirty="0" smtClean="0"/>
              <a:t> </a:t>
            </a:r>
            <a:r>
              <a:rPr lang="en-AU" dirty="0" err="1" smtClean="0"/>
              <a:t>dapat</a:t>
            </a:r>
            <a:r>
              <a:rPr lang="en-AU" dirty="0" smtClean="0"/>
              <a:t> </a:t>
            </a:r>
            <a:r>
              <a:rPr lang="en-AU" dirty="0" err="1" smtClean="0"/>
              <a:t>dilengkapi</a:t>
            </a:r>
            <a:r>
              <a:rPr lang="en-AU" dirty="0" smtClean="0"/>
              <a:t> </a:t>
            </a:r>
            <a:r>
              <a:rPr lang="en-AU" dirty="0" err="1" smtClean="0"/>
              <a:t>dan</a:t>
            </a:r>
            <a:r>
              <a:rPr lang="en-AU" dirty="0" smtClean="0"/>
              <a:t> </a:t>
            </a:r>
            <a:r>
              <a:rPr lang="en-AU" dirty="0" err="1" smtClean="0"/>
              <a:t>diperjelas</a:t>
            </a:r>
            <a:r>
              <a:rPr lang="en-AU" dirty="0" smtClean="0"/>
              <a:t> </a:t>
            </a:r>
            <a:r>
              <a:rPr lang="en-AU" dirty="0" err="1" smtClean="0"/>
              <a:t>oleh</a:t>
            </a:r>
            <a:r>
              <a:rPr lang="en-AU" dirty="0" smtClean="0"/>
              <a:t> interviewer (probing)</a:t>
            </a:r>
          </a:p>
          <a:p>
            <a:pPr>
              <a:defRPr/>
            </a:pPr>
            <a:r>
              <a:rPr lang="en-AU" dirty="0" err="1" smtClean="0"/>
              <a:t>Kelemahan</a:t>
            </a:r>
            <a:endParaRPr lang="en-AU" dirty="0" smtClean="0"/>
          </a:p>
          <a:p>
            <a:pPr lvl="1">
              <a:defRPr/>
            </a:pPr>
            <a:r>
              <a:rPr lang="en-AU" dirty="0" err="1" smtClean="0"/>
              <a:t>Membutuhkan</a:t>
            </a:r>
            <a:r>
              <a:rPr lang="en-AU" dirty="0" smtClean="0"/>
              <a:t> </a:t>
            </a:r>
            <a:r>
              <a:rPr lang="en-AU" dirty="0" err="1" smtClean="0"/>
              <a:t>banyak</a:t>
            </a:r>
            <a:r>
              <a:rPr lang="en-AU" dirty="0" smtClean="0"/>
              <a:t> </a:t>
            </a:r>
            <a:r>
              <a:rPr lang="en-AU" dirty="0" err="1" smtClean="0"/>
              <a:t>biaya</a:t>
            </a:r>
            <a:endParaRPr lang="en-AU" dirty="0" smtClean="0"/>
          </a:p>
          <a:p>
            <a:pPr lvl="1">
              <a:defRPr/>
            </a:pPr>
            <a:r>
              <a:rPr lang="en-AU" dirty="0" err="1" smtClean="0"/>
              <a:t>Mencakup</a:t>
            </a:r>
            <a:r>
              <a:rPr lang="en-AU" dirty="0" smtClean="0"/>
              <a:t> area yang </a:t>
            </a:r>
            <a:r>
              <a:rPr lang="en-AU" dirty="0" err="1" smtClean="0"/>
              <a:t>lebih</a:t>
            </a:r>
            <a:r>
              <a:rPr lang="en-AU" dirty="0" smtClean="0"/>
              <a:t> </a:t>
            </a:r>
            <a:r>
              <a:rPr lang="en-AU" dirty="0" err="1" smtClean="0"/>
              <a:t>kecil</a:t>
            </a:r>
            <a:endParaRPr lang="en-AU" dirty="0" smtClean="0"/>
          </a:p>
          <a:p>
            <a:pPr lvl="1">
              <a:defRPr/>
            </a:pPr>
            <a:r>
              <a:rPr lang="en-AU" dirty="0" err="1" smtClean="0"/>
              <a:t>Membutuhkan</a:t>
            </a:r>
            <a:r>
              <a:rPr lang="en-AU" dirty="0" smtClean="0"/>
              <a:t> interviewer yang </a:t>
            </a:r>
            <a:r>
              <a:rPr lang="en-AU" dirty="0" err="1" smtClean="0"/>
              <a:t>handal</a:t>
            </a:r>
            <a:r>
              <a:rPr lang="en-AU" dirty="0" smtClean="0"/>
              <a:t> </a:t>
            </a:r>
            <a:r>
              <a:rPr lang="en-AU" dirty="0" err="1" smtClean="0"/>
              <a:t>untuk</a:t>
            </a:r>
            <a:r>
              <a:rPr lang="en-AU" dirty="0" smtClean="0"/>
              <a:t> </a:t>
            </a:r>
            <a:r>
              <a:rPr lang="en-AU" dirty="0" err="1" smtClean="0"/>
              <a:t>menghindari</a:t>
            </a:r>
            <a:r>
              <a:rPr lang="en-AU" dirty="0" smtClean="0"/>
              <a:t> bias, </a:t>
            </a:r>
            <a:r>
              <a:rPr lang="en-AU" dirty="0" err="1" smtClean="0"/>
              <a:t>menjamin</a:t>
            </a:r>
            <a:r>
              <a:rPr lang="en-AU" dirty="0" smtClean="0"/>
              <a:t> </a:t>
            </a:r>
            <a:r>
              <a:rPr lang="en-AU" dirty="0" err="1" smtClean="0"/>
              <a:t>konsistensi</a:t>
            </a:r>
            <a:r>
              <a:rPr lang="en-AU" dirty="0" smtClean="0"/>
              <a:t> </a:t>
            </a:r>
            <a:r>
              <a:rPr lang="en-AU" dirty="0" err="1" smtClean="0"/>
              <a:t>dsb</a:t>
            </a:r>
            <a:r>
              <a:rPr lang="en-AU" dirty="0" smtClean="0"/>
              <a:t>.</a:t>
            </a:r>
            <a:endParaRPr lang="en-US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AU" dirty="0" smtClean="0"/>
              <a:t>Phase 1: </a:t>
            </a:r>
            <a:r>
              <a:rPr lang="en-AU" dirty="0" err="1" smtClean="0"/>
              <a:t>Buat</a:t>
            </a:r>
            <a:r>
              <a:rPr lang="en-AU" dirty="0" smtClean="0"/>
              <a:t> Instrument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id-ID" sz="3200" b="1" dirty="0" smtClean="0"/>
              <a:t>Pertanyaan yang baik menghindari :</a:t>
            </a:r>
            <a:endParaRPr lang="en-AU" sz="3200" b="1" dirty="0" smtClean="0"/>
          </a:p>
          <a:p>
            <a:pPr lvl="1">
              <a:defRPr/>
            </a:pPr>
            <a:r>
              <a:rPr lang="en-AU" sz="2800" dirty="0" smtClean="0"/>
              <a:t>Jargon</a:t>
            </a:r>
          </a:p>
          <a:p>
            <a:pPr lvl="1">
              <a:defRPr/>
            </a:pPr>
            <a:r>
              <a:rPr lang="en-AU" sz="2800" dirty="0" smtClean="0"/>
              <a:t>Ambiguity</a:t>
            </a:r>
          </a:p>
          <a:p>
            <a:pPr lvl="1">
              <a:defRPr/>
            </a:pPr>
            <a:r>
              <a:rPr lang="en-AU" sz="2800" dirty="0" smtClean="0"/>
              <a:t>Emotional language</a:t>
            </a:r>
          </a:p>
          <a:p>
            <a:pPr lvl="1">
              <a:defRPr/>
            </a:pPr>
            <a:r>
              <a:rPr lang="en-AU" sz="2800" dirty="0" smtClean="0"/>
              <a:t>Double negatives</a:t>
            </a:r>
          </a:p>
          <a:p>
            <a:pPr lvl="1">
              <a:defRPr/>
            </a:pPr>
            <a:r>
              <a:rPr lang="en-AU" sz="2800" dirty="0" smtClean="0"/>
              <a:t>Leading </a:t>
            </a:r>
            <a:r>
              <a:rPr lang="en-AU" sz="2800" dirty="0" smtClean="0"/>
              <a:t>questions</a:t>
            </a:r>
            <a:endParaRPr lang="id-ID" sz="2800" dirty="0" smtClean="0"/>
          </a:p>
          <a:p>
            <a:pPr lvl="1">
              <a:buNone/>
              <a:defRPr/>
            </a:pPr>
            <a:endParaRPr lang="en-US" sz="2800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AU" dirty="0" smtClean="0"/>
              <a:t>Phase 2: </a:t>
            </a:r>
            <a:r>
              <a:rPr lang="en-AU" dirty="0" err="1" smtClean="0"/>
              <a:t>Uji</a:t>
            </a:r>
            <a:r>
              <a:rPr lang="en-AU" dirty="0" smtClean="0"/>
              <a:t> </a:t>
            </a:r>
            <a:r>
              <a:rPr lang="en-AU" dirty="0" err="1" smtClean="0"/>
              <a:t>Instrumen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en-AU" dirty="0" smtClean="0"/>
              <a:t>Pilot test </a:t>
            </a:r>
            <a:r>
              <a:rPr lang="en-AU" dirty="0" err="1" smtClean="0"/>
              <a:t>instrumen</a:t>
            </a:r>
            <a:r>
              <a:rPr lang="en-AU" dirty="0" smtClean="0"/>
              <a:t> survey</a:t>
            </a:r>
          </a:p>
          <a:p>
            <a:pPr lvl="1">
              <a:lnSpc>
                <a:spcPct val="80000"/>
              </a:lnSpc>
              <a:defRPr/>
            </a:pPr>
            <a:r>
              <a:rPr lang="en-AU" dirty="0" smtClean="0"/>
              <a:t>Reliability</a:t>
            </a:r>
          </a:p>
          <a:p>
            <a:pPr lvl="2">
              <a:lnSpc>
                <a:spcPct val="80000"/>
              </a:lnSpc>
              <a:defRPr/>
            </a:pPr>
            <a:r>
              <a:rPr lang="en-AU" dirty="0" err="1" smtClean="0"/>
              <a:t>Coba</a:t>
            </a:r>
            <a:r>
              <a:rPr lang="en-AU" dirty="0" smtClean="0"/>
              <a:t> </a:t>
            </a:r>
            <a:r>
              <a:rPr lang="en-AU" dirty="0" err="1" smtClean="0"/>
              <a:t>instrumen</a:t>
            </a:r>
            <a:r>
              <a:rPr lang="en-AU" dirty="0" smtClean="0"/>
              <a:t> </a:t>
            </a:r>
            <a:r>
              <a:rPr lang="en-AU" dirty="0" err="1" smtClean="0"/>
              <a:t>di</a:t>
            </a:r>
            <a:r>
              <a:rPr lang="en-AU" dirty="0" smtClean="0"/>
              <a:t> </a:t>
            </a:r>
            <a:r>
              <a:rPr lang="en-AU" dirty="0" err="1" smtClean="0"/>
              <a:t>populasi</a:t>
            </a:r>
            <a:r>
              <a:rPr lang="en-AU" dirty="0" smtClean="0"/>
              <a:t> yang </a:t>
            </a:r>
            <a:r>
              <a:rPr lang="en-AU" dirty="0" err="1" smtClean="0"/>
              <a:t>kecil</a:t>
            </a:r>
            <a:endParaRPr lang="en-AU" dirty="0" smtClean="0"/>
          </a:p>
          <a:p>
            <a:pPr lvl="2">
              <a:lnSpc>
                <a:spcPct val="80000"/>
              </a:lnSpc>
              <a:defRPr/>
            </a:pPr>
            <a:r>
              <a:rPr lang="en-AU" dirty="0" err="1" smtClean="0"/>
              <a:t>Lihat</a:t>
            </a:r>
            <a:r>
              <a:rPr lang="en-AU" dirty="0" smtClean="0"/>
              <a:t> </a:t>
            </a:r>
            <a:r>
              <a:rPr lang="en-AU" dirty="0" err="1" smtClean="0"/>
              <a:t>apakah</a:t>
            </a:r>
            <a:r>
              <a:rPr lang="en-AU" dirty="0" smtClean="0"/>
              <a:t> </a:t>
            </a:r>
            <a:r>
              <a:rPr lang="en-AU" dirty="0" err="1" smtClean="0"/>
              <a:t>ada</a:t>
            </a:r>
            <a:r>
              <a:rPr lang="en-AU" dirty="0" smtClean="0"/>
              <a:t> </a:t>
            </a:r>
            <a:r>
              <a:rPr lang="en-AU" dirty="0" err="1" smtClean="0"/>
              <a:t>masalah</a:t>
            </a:r>
            <a:r>
              <a:rPr lang="en-AU" dirty="0" smtClean="0"/>
              <a:t> </a:t>
            </a:r>
            <a:r>
              <a:rPr lang="en-AU" dirty="0" err="1" smtClean="0"/>
              <a:t>untuk</a:t>
            </a:r>
            <a:r>
              <a:rPr lang="en-AU" dirty="0" smtClean="0"/>
              <a:t> </a:t>
            </a:r>
            <a:r>
              <a:rPr lang="en-AU" dirty="0" err="1" smtClean="0"/>
              <a:t>mengartikan</a:t>
            </a:r>
            <a:r>
              <a:rPr lang="en-AU" dirty="0" smtClean="0"/>
              <a:t> </a:t>
            </a:r>
            <a:r>
              <a:rPr lang="en-AU" dirty="0" err="1" smtClean="0"/>
              <a:t>pertanyaan</a:t>
            </a:r>
            <a:r>
              <a:rPr lang="en-AU" dirty="0" smtClean="0"/>
              <a:t> survey</a:t>
            </a:r>
          </a:p>
          <a:p>
            <a:pPr lvl="1">
              <a:lnSpc>
                <a:spcPct val="80000"/>
              </a:lnSpc>
              <a:defRPr/>
            </a:pPr>
            <a:r>
              <a:rPr lang="en-AU" dirty="0" smtClean="0"/>
              <a:t>Validity</a:t>
            </a:r>
          </a:p>
          <a:p>
            <a:pPr lvl="2">
              <a:lnSpc>
                <a:spcPct val="80000"/>
              </a:lnSpc>
              <a:defRPr/>
            </a:pPr>
            <a:r>
              <a:rPr lang="en-AU" dirty="0" err="1" smtClean="0"/>
              <a:t>Konsultasikan</a:t>
            </a:r>
            <a:r>
              <a:rPr lang="en-AU" dirty="0" smtClean="0"/>
              <a:t> </a:t>
            </a:r>
            <a:r>
              <a:rPr lang="en-AU" dirty="0" err="1" smtClean="0"/>
              <a:t>dengan</a:t>
            </a:r>
            <a:r>
              <a:rPr lang="en-AU" dirty="0" smtClean="0"/>
              <a:t> </a:t>
            </a:r>
            <a:r>
              <a:rPr lang="en-AU" dirty="0" err="1" smtClean="0"/>
              <a:t>ahli</a:t>
            </a:r>
            <a:r>
              <a:rPr lang="en-AU" dirty="0" smtClean="0"/>
              <a:t> </a:t>
            </a:r>
            <a:r>
              <a:rPr lang="en-AU" dirty="0" err="1" smtClean="0"/>
              <a:t>di</a:t>
            </a:r>
            <a:r>
              <a:rPr lang="en-AU" dirty="0" smtClean="0"/>
              <a:t> </a:t>
            </a:r>
            <a:r>
              <a:rPr lang="en-AU" dirty="0" err="1" smtClean="0"/>
              <a:t>bidangnya</a:t>
            </a:r>
            <a:endParaRPr lang="en-AU" dirty="0" smtClean="0"/>
          </a:p>
          <a:p>
            <a:pPr lvl="2">
              <a:lnSpc>
                <a:spcPct val="80000"/>
              </a:lnSpc>
              <a:defRPr/>
            </a:pPr>
            <a:r>
              <a:rPr lang="en-AU" dirty="0" err="1" smtClean="0"/>
              <a:t>Validasi</a:t>
            </a:r>
            <a:r>
              <a:rPr lang="en-AU" dirty="0" smtClean="0"/>
              <a:t> </a:t>
            </a:r>
            <a:r>
              <a:rPr lang="en-AU" dirty="0" err="1" smtClean="0"/>
              <a:t>pertanyaan</a:t>
            </a:r>
            <a:r>
              <a:rPr lang="en-AU" dirty="0" smtClean="0"/>
              <a:t> </a:t>
            </a:r>
            <a:r>
              <a:rPr lang="en-AU" dirty="0" err="1" smtClean="0"/>
              <a:t>dan</a:t>
            </a:r>
            <a:r>
              <a:rPr lang="en-AU" dirty="0" smtClean="0"/>
              <a:t> </a:t>
            </a:r>
            <a:r>
              <a:rPr lang="en-AU" dirty="0" err="1" smtClean="0"/>
              <a:t>jawabannya</a:t>
            </a:r>
            <a:endParaRPr lang="en-AU" dirty="0" smtClean="0"/>
          </a:p>
          <a:p>
            <a:pPr>
              <a:lnSpc>
                <a:spcPct val="80000"/>
              </a:lnSpc>
              <a:defRPr/>
            </a:pPr>
            <a:r>
              <a:rPr lang="en-AU" dirty="0" err="1" smtClean="0"/>
              <a:t>Siapkan</a:t>
            </a:r>
            <a:r>
              <a:rPr lang="en-AU" dirty="0" smtClean="0"/>
              <a:t> </a:t>
            </a:r>
            <a:r>
              <a:rPr lang="en-AU" dirty="0" err="1" smtClean="0"/>
              <a:t>prosedur</a:t>
            </a:r>
            <a:r>
              <a:rPr lang="en-AU" dirty="0" smtClean="0"/>
              <a:t> </a:t>
            </a:r>
            <a:r>
              <a:rPr lang="en-AU" dirty="0" err="1" smtClean="0"/>
              <a:t>reka</a:t>
            </a:r>
            <a:r>
              <a:rPr lang="id-ID" dirty="0" smtClean="0"/>
              <a:t>m</a:t>
            </a:r>
            <a:r>
              <a:rPr lang="en-AU" dirty="0" smtClean="0"/>
              <a:t> data</a:t>
            </a:r>
          </a:p>
          <a:p>
            <a:pPr lvl="1">
              <a:lnSpc>
                <a:spcPct val="80000"/>
              </a:lnSpc>
              <a:defRPr/>
            </a:pPr>
            <a:r>
              <a:rPr lang="en-AU" dirty="0" smtClean="0"/>
              <a:t>Anonymity</a:t>
            </a:r>
          </a:p>
          <a:p>
            <a:pPr lvl="1">
              <a:lnSpc>
                <a:spcPct val="80000"/>
              </a:lnSpc>
              <a:defRPr/>
            </a:pPr>
            <a:r>
              <a:rPr lang="en-AU" dirty="0" err="1" smtClean="0"/>
              <a:t>Numerasi</a:t>
            </a:r>
            <a:r>
              <a:rPr lang="en-AU" dirty="0" smtClean="0"/>
              <a:t> / </a:t>
            </a:r>
            <a:r>
              <a:rPr lang="en-AU" dirty="0" err="1" smtClean="0"/>
              <a:t>pengkodean</a:t>
            </a:r>
            <a:r>
              <a:rPr lang="en-AU" dirty="0" smtClean="0"/>
              <a:t> </a:t>
            </a:r>
            <a:r>
              <a:rPr lang="en-AU" dirty="0" err="1" smtClean="0"/>
              <a:t>subyek</a:t>
            </a:r>
            <a:endParaRPr lang="en-US" dirty="0" smtClean="0"/>
          </a:p>
          <a:p>
            <a:pPr lvl="1">
              <a:buNone/>
              <a:defRPr/>
            </a:pPr>
            <a:endParaRPr lang="en-US" sz="2800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941128" cy="1325563"/>
          </a:xfrm>
        </p:spPr>
        <p:txBody>
          <a:bodyPr/>
          <a:lstStyle/>
          <a:p>
            <a:r>
              <a:rPr lang="en-AU" dirty="0" smtClean="0"/>
              <a:t>Phase 3: </a:t>
            </a:r>
            <a:r>
              <a:rPr lang="en-AU" dirty="0" err="1" smtClean="0"/>
              <a:t>Tentukan</a:t>
            </a:r>
            <a:r>
              <a:rPr lang="id-ID" dirty="0" smtClean="0"/>
              <a:t> </a:t>
            </a:r>
            <a:r>
              <a:rPr lang="en-AU" dirty="0" smtClean="0"/>
              <a:t>Sample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id-ID" dirty="0" smtClean="0"/>
              <a:t>Sample yang tidak tepat akan memberikan hasil yang </a:t>
            </a:r>
            <a:r>
              <a:rPr lang="id-ID" dirty="0" smtClean="0"/>
              <a:t>melenceng</a:t>
            </a:r>
            <a:endParaRPr lang="id-ID" dirty="0" smtClean="0"/>
          </a:p>
          <a:p>
            <a:pPr>
              <a:defRPr/>
            </a:pPr>
            <a:r>
              <a:rPr lang="en-AU" dirty="0" err="1" smtClean="0"/>
              <a:t>Tentukan</a:t>
            </a:r>
            <a:r>
              <a:rPr lang="en-AU" dirty="0" smtClean="0"/>
              <a:t> target </a:t>
            </a:r>
            <a:r>
              <a:rPr lang="en-AU" dirty="0" err="1" smtClean="0"/>
              <a:t>populasi</a:t>
            </a:r>
            <a:r>
              <a:rPr lang="id-ID" dirty="0" smtClean="0"/>
              <a:t> dan sampling frame </a:t>
            </a:r>
          </a:p>
          <a:p>
            <a:pPr>
              <a:buNone/>
              <a:defRPr/>
            </a:pPr>
            <a:r>
              <a:rPr lang="id-ID" dirty="0" smtClean="0"/>
              <a:t>	Contoh : </a:t>
            </a:r>
          </a:p>
          <a:p>
            <a:pPr>
              <a:buNone/>
              <a:defRPr/>
            </a:pPr>
            <a:r>
              <a:rPr lang="id-ID" dirty="0" smtClean="0"/>
              <a:t>	Target populasi : Mahasiswa Ubaya, Karyawan di PT X, dll...</a:t>
            </a:r>
          </a:p>
          <a:p>
            <a:pPr>
              <a:buNone/>
              <a:defRPr/>
            </a:pPr>
            <a:r>
              <a:rPr lang="id-ID" dirty="0" smtClean="0"/>
              <a:t>	Sampling Frame : Mhs yang berat badannya lebih dari 60 kg utk wanita dan lebih dari 80 kg untuk pria, Karyawan yang sudah menikah, dll...</a:t>
            </a:r>
            <a:endParaRPr lang="id-ID" sz="2400" dirty="0" smtClean="0"/>
          </a:p>
          <a:p>
            <a:pPr>
              <a:defRPr/>
            </a:pPr>
            <a:r>
              <a:rPr lang="en-AU" dirty="0" err="1" smtClean="0"/>
              <a:t>Tentukan</a:t>
            </a:r>
            <a:r>
              <a:rPr lang="en-AU" dirty="0" smtClean="0"/>
              <a:t> sampling size</a:t>
            </a:r>
            <a:endParaRPr lang="id-ID" dirty="0" smtClean="0"/>
          </a:p>
          <a:p>
            <a:pPr lvl="1">
              <a:buNone/>
              <a:defRPr/>
            </a:pPr>
            <a:endParaRPr lang="en-US" sz="2800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941128" cy="1325563"/>
          </a:xfrm>
        </p:spPr>
        <p:txBody>
          <a:bodyPr/>
          <a:lstStyle/>
          <a:p>
            <a:r>
              <a:rPr lang="en-AU" dirty="0" smtClean="0"/>
              <a:t>Phase 3: </a:t>
            </a:r>
            <a:r>
              <a:rPr lang="en-AU" dirty="0" err="1" smtClean="0"/>
              <a:t>Tentukan</a:t>
            </a:r>
            <a:r>
              <a:rPr lang="id-ID" dirty="0" smtClean="0"/>
              <a:t> </a:t>
            </a:r>
            <a:r>
              <a:rPr lang="en-AU" dirty="0" smtClean="0"/>
              <a:t>Sample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AU" dirty="0" err="1" smtClean="0"/>
              <a:t>Tentukan</a:t>
            </a:r>
            <a:r>
              <a:rPr lang="en-AU" dirty="0" smtClean="0"/>
              <a:t> sampling strategy</a:t>
            </a:r>
            <a:r>
              <a:rPr lang="id-ID" dirty="0" smtClean="0"/>
              <a:t> </a:t>
            </a:r>
          </a:p>
          <a:p>
            <a:pPr>
              <a:buNone/>
              <a:defRPr/>
            </a:pPr>
            <a:r>
              <a:rPr lang="id-ID" dirty="0" smtClean="0"/>
              <a:t>	- Simple Random Sampling (</a:t>
            </a:r>
            <a:r>
              <a:rPr lang="id-ID" dirty="0" smtClean="0"/>
              <a:t>pilih acak)</a:t>
            </a:r>
            <a:endParaRPr lang="id-ID" dirty="0" smtClean="0"/>
          </a:p>
          <a:p>
            <a:pPr>
              <a:buNone/>
              <a:defRPr/>
            </a:pPr>
            <a:r>
              <a:rPr lang="id-ID" dirty="0" smtClean="0"/>
              <a:t>	- Systematic Sampling (</a:t>
            </a:r>
            <a:r>
              <a:rPr lang="id-ID" dirty="0" smtClean="0"/>
              <a:t>pilih tiap orang ke 10 dari daftar)</a:t>
            </a:r>
            <a:endParaRPr lang="id-ID" dirty="0" smtClean="0"/>
          </a:p>
          <a:p>
            <a:pPr>
              <a:buNone/>
              <a:defRPr/>
            </a:pPr>
            <a:r>
              <a:rPr lang="id-ID" dirty="0" smtClean="0"/>
              <a:t>	- Stratified Random Sampling </a:t>
            </a:r>
            <a:r>
              <a:rPr lang="id-ID" dirty="0" smtClean="0"/>
              <a:t>(bagi menjadi grup-grup homogen, lalu pilih acak dari tiap grup)</a:t>
            </a:r>
            <a:endParaRPr lang="id-ID" dirty="0" smtClean="0"/>
          </a:p>
          <a:p>
            <a:pPr>
              <a:buNone/>
              <a:defRPr/>
            </a:pPr>
            <a:r>
              <a:rPr lang="id-ID" dirty="0" smtClean="0"/>
              <a:t>	</a:t>
            </a:r>
            <a:r>
              <a:rPr lang="id-ID" dirty="0" smtClean="0"/>
              <a:t>Misal. Grup pria vs wanita, grup anak vs remaja vs dewasa, grup ibu rt vs grup eksekutif, grup guru vs grup siswa, dll.</a:t>
            </a:r>
            <a:endParaRPr lang="id-ID" dirty="0" smtClean="0"/>
          </a:p>
          <a:p>
            <a:pPr>
              <a:buNone/>
              <a:defRPr/>
            </a:pPr>
            <a:r>
              <a:rPr lang="id-ID" dirty="0" smtClean="0"/>
              <a:t>	- Cluster Sampling </a:t>
            </a:r>
            <a:r>
              <a:rPr lang="id-ID" dirty="0" smtClean="0"/>
              <a:t>(bagi menjadi banyak grup, pilih acak 1 grup, seluruh anggota grup terpilih dianggap terpilih)</a:t>
            </a:r>
            <a:endParaRPr lang="id-ID" dirty="0" smtClean="0"/>
          </a:p>
          <a:p>
            <a:pPr lvl="1">
              <a:buNone/>
              <a:defRPr/>
            </a:pPr>
            <a:endParaRPr lang="en-US" sz="2800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941128" cy="1325563"/>
          </a:xfrm>
        </p:spPr>
        <p:txBody>
          <a:bodyPr/>
          <a:lstStyle/>
          <a:p>
            <a:r>
              <a:rPr lang="en-AU" dirty="0" smtClean="0"/>
              <a:t>Phase 4: </a:t>
            </a:r>
            <a:r>
              <a:rPr lang="en-AU" dirty="0" err="1" smtClean="0"/>
              <a:t>Interaksi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 err="1" smtClean="0"/>
              <a:t>Siapkan</a:t>
            </a:r>
            <a:r>
              <a:rPr lang="en-AU" dirty="0" smtClean="0"/>
              <a:t> </a:t>
            </a:r>
            <a:r>
              <a:rPr lang="en-AU" dirty="0" smtClean="0"/>
              <a:t>Materials</a:t>
            </a:r>
            <a:endParaRPr lang="en-AU" dirty="0" smtClean="0"/>
          </a:p>
          <a:p>
            <a:pPr>
              <a:defRPr/>
            </a:pPr>
            <a:r>
              <a:rPr lang="en-AU" dirty="0" err="1" smtClean="0"/>
              <a:t>Menin</a:t>
            </a:r>
            <a:r>
              <a:rPr lang="id-ID" dirty="0" smtClean="0"/>
              <a:t>g</a:t>
            </a:r>
            <a:r>
              <a:rPr lang="en-AU" dirty="0" err="1" smtClean="0"/>
              <a:t>katkan</a:t>
            </a:r>
            <a:r>
              <a:rPr lang="en-AU" dirty="0" smtClean="0"/>
              <a:t> Response rates</a:t>
            </a:r>
          </a:p>
          <a:p>
            <a:pPr lvl="1">
              <a:defRPr/>
            </a:pPr>
            <a:r>
              <a:rPr lang="en-AU" dirty="0" smtClean="0"/>
              <a:t>Incentives?</a:t>
            </a:r>
          </a:p>
          <a:p>
            <a:pPr lvl="1">
              <a:defRPr/>
            </a:pPr>
            <a:r>
              <a:rPr lang="en-AU" dirty="0" smtClean="0"/>
              <a:t>Follow up letters/phone calls</a:t>
            </a:r>
          </a:p>
          <a:p>
            <a:pPr lvl="1">
              <a:defRPr/>
            </a:pPr>
            <a:r>
              <a:rPr lang="en-AU" dirty="0" smtClean="0"/>
              <a:t>Timing </a:t>
            </a:r>
            <a:endParaRPr lang="en-US" dirty="0" smtClean="0"/>
          </a:p>
          <a:p>
            <a:pPr lvl="1">
              <a:buNone/>
              <a:defRPr/>
            </a:pPr>
            <a:endParaRPr lang="en-US" sz="2800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941128" cy="1325563"/>
          </a:xfrm>
        </p:spPr>
        <p:txBody>
          <a:bodyPr/>
          <a:lstStyle/>
          <a:p>
            <a:r>
              <a:rPr lang="en-AU" dirty="0" smtClean="0"/>
              <a:t>Phase 5: </a:t>
            </a:r>
            <a:r>
              <a:rPr lang="en-AU" dirty="0" err="1" smtClean="0"/>
              <a:t>Analisa</a:t>
            </a:r>
            <a:r>
              <a:rPr lang="en-AU" dirty="0" smtClean="0"/>
              <a:t> Data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 smtClean="0"/>
              <a:t>Input data</a:t>
            </a:r>
          </a:p>
          <a:p>
            <a:pPr>
              <a:defRPr/>
            </a:pPr>
            <a:r>
              <a:rPr lang="en-AU" dirty="0" smtClean="0"/>
              <a:t>Recheck data</a:t>
            </a:r>
          </a:p>
          <a:p>
            <a:pPr lvl="1">
              <a:defRPr/>
            </a:pPr>
            <a:r>
              <a:rPr lang="en-AU" dirty="0" err="1" smtClean="0"/>
              <a:t>Solusikan</a:t>
            </a:r>
            <a:r>
              <a:rPr lang="en-AU" dirty="0" smtClean="0"/>
              <a:t> incomplete data</a:t>
            </a:r>
          </a:p>
          <a:p>
            <a:pPr>
              <a:defRPr/>
            </a:pPr>
            <a:r>
              <a:rPr lang="en-AU" dirty="0" err="1" smtClean="0"/>
              <a:t>Lakukan</a:t>
            </a:r>
            <a:r>
              <a:rPr lang="en-AU" dirty="0" smtClean="0"/>
              <a:t> </a:t>
            </a:r>
            <a:r>
              <a:rPr lang="en-AU" dirty="0" err="1" smtClean="0"/>
              <a:t>analisis</a:t>
            </a:r>
            <a:r>
              <a:rPr lang="en-AU" dirty="0" smtClean="0"/>
              <a:t> </a:t>
            </a:r>
            <a:r>
              <a:rPr lang="en-AU" dirty="0" err="1" smtClean="0"/>
              <a:t>statistik</a:t>
            </a:r>
            <a:r>
              <a:rPr lang="id-ID" dirty="0" smtClean="0"/>
              <a:t> </a:t>
            </a:r>
          </a:p>
          <a:p>
            <a:pPr>
              <a:buNone/>
              <a:defRPr/>
            </a:pPr>
            <a:r>
              <a:rPr lang="id-ID" dirty="0" smtClean="0"/>
              <a:t>	( mean, median, modus)</a:t>
            </a:r>
            <a:endParaRPr lang="en-US" dirty="0" smtClean="0"/>
          </a:p>
          <a:p>
            <a:pPr lvl="1">
              <a:buNone/>
              <a:defRPr/>
            </a:pPr>
            <a:endParaRPr lang="en-US" sz="2800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941128" cy="1325563"/>
          </a:xfrm>
        </p:spPr>
        <p:txBody>
          <a:bodyPr/>
          <a:lstStyle/>
          <a:p>
            <a:r>
              <a:rPr lang="id-ID" dirty="0" smtClean="0"/>
              <a:t>Alternatif Sub Bab </a:t>
            </a:r>
            <a:r>
              <a:rPr lang="id-ID" dirty="0" smtClean="0"/>
              <a:t>dalam </a:t>
            </a:r>
            <a:r>
              <a:rPr lang="id-ID" dirty="0" smtClean="0"/>
              <a:t>Bab </a:t>
            </a:r>
            <a:r>
              <a:rPr lang="id-ID" dirty="0" smtClean="0"/>
              <a:t>Analisa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 lnSpcReduction="10000"/>
          </a:bodyPr>
          <a:lstStyle/>
          <a:p>
            <a:r>
              <a:rPr lang="id-ID" dirty="0" smtClean="0"/>
              <a:t>Analisis Kondisi Saat Ini </a:t>
            </a:r>
          </a:p>
          <a:p>
            <a:pPr>
              <a:buNone/>
            </a:pPr>
            <a:r>
              <a:rPr lang="id-ID" dirty="0" smtClean="0"/>
              <a:t>	Menggambarkan kondisi berjalan saat ini, tidak harus menunjukkan sisi negatif, bagian ini bukan untuk mencari masalah</a:t>
            </a:r>
          </a:p>
          <a:p>
            <a:r>
              <a:rPr lang="id-ID" dirty="0" smtClean="0"/>
              <a:t>Identifikasi Masalah</a:t>
            </a:r>
          </a:p>
          <a:p>
            <a:pPr>
              <a:buNone/>
            </a:pPr>
            <a:r>
              <a:rPr lang="id-ID" dirty="0" smtClean="0"/>
              <a:t>	Memetakan dengan detail dan mendalam permasalahan yang ditemukan dalam kondisi saat ini dan masalah yang mungkin akan terjadi (potential problem), serta hipotesa tentang sumber </a:t>
            </a:r>
            <a:r>
              <a:rPr lang="id-ID" dirty="0" smtClean="0"/>
              <a:t>masalah</a:t>
            </a:r>
            <a:endParaRPr lang="en-US" sz="2800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941128" cy="1325563"/>
          </a:xfrm>
        </p:spPr>
        <p:txBody>
          <a:bodyPr/>
          <a:lstStyle/>
          <a:p>
            <a:r>
              <a:rPr lang="id-ID" dirty="0" smtClean="0"/>
              <a:t>Alternatif Sub Bab </a:t>
            </a:r>
            <a:r>
              <a:rPr lang="id-ID" dirty="0" smtClean="0"/>
              <a:t>dalam </a:t>
            </a:r>
            <a:r>
              <a:rPr lang="id-ID" dirty="0" smtClean="0"/>
              <a:t>Bab </a:t>
            </a:r>
            <a:r>
              <a:rPr lang="id-ID" dirty="0" smtClean="0"/>
              <a:t>Analisa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Analisis Aplikasi Sejenis</a:t>
            </a:r>
          </a:p>
          <a:p>
            <a:pPr>
              <a:buNone/>
            </a:pPr>
            <a:r>
              <a:rPr lang="id-ID" dirty="0" smtClean="0"/>
              <a:t>	Melihat solusi yang sudah ditawarkan, baik yang saat ini sudah dipakai di sistem, atau solusi yang dimiliki oleh sistem lain atau yang ditawarkan/dijual secara bebas untuk permasalahan serupa. Kelebihan dan kekurangan setiap solusi harus mengacu ke dasar teori atau identifikasi </a:t>
            </a:r>
            <a:r>
              <a:rPr lang="id-ID" dirty="0" smtClean="0"/>
              <a:t>masalah, tidak boleh berdasarkan pendapat yang tidak memiliki dasar.</a:t>
            </a:r>
            <a:endParaRPr lang="id-ID" dirty="0" smtClean="0"/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941128" cy="1325563"/>
          </a:xfrm>
        </p:spPr>
        <p:txBody>
          <a:bodyPr/>
          <a:lstStyle/>
          <a:p>
            <a:r>
              <a:rPr lang="id-ID" dirty="0" smtClean="0"/>
              <a:t>Alternatif Sub Bab </a:t>
            </a:r>
            <a:r>
              <a:rPr lang="id-ID" dirty="0" smtClean="0"/>
              <a:t>dalam </a:t>
            </a:r>
            <a:r>
              <a:rPr lang="id-ID" dirty="0" smtClean="0"/>
              <a:t>Bab </a:t>
            </a:r>
            <a:r>
              <a:rPr lang="id-ID" dirty="0" smtClean="0"/>
              <a:t>Analisa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Analisis Kebutuhan Sistem</a:t>
            </a:r>
          </a:p>
          <a:p>
            <a:pPr>
              <a:buNone/>
            </a:pPr>
            <a:r>
              <a:rPr lang="id-ID" dirty="0" smtClean="0"/>
              <a:t>	Hipotesa tentang bagaimana solusi harus dibangun berdasarkan seluruh analisa yang telah dilaksanakan. </a:t>
            </a:r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941128" cy="1325563"/>
          </a:xfrm>
        </p:spPr>
        <p:txBody>
          <a:bodyPr/>
          <a:lstStyle/>
          <a:p>
            <a:r>
              <a:rPr lang="id-ID" dirty="0" smtClean="0"/>
              <a:t>Rule of Thumbs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Semua yang ada di ruang lingkup harus terjelaskan di bab analisis</a:t>
            </a:r>
          </a:p>
          <a:p>
            <a:r>
              <a:rPr lang="id-ID" dirty="0" smtClean="0"/>
              <a:t>Semua yang ada di bagian desain harus terjelaskan di bab analisis</a:t>
            </a:r>
          </a:p>
          <a:p>
            <a:r>
              <a:rPr lang="id-ID" dirty="0" smtClean="0"/>
              <a:t>Analisis harus mempengaruhi uji coba sistem</a:t>
            </a:r>
          </a:p>
          <a:p>
            <a:r>
              <a:rPr lang="id-ID" dirty="0" smtClean="0"/>
              <a:t>Ingatlah bahwa bab ini dibuat sebelum desain, maka kebutuhan sistem tidak mungkin ditulis sedemikian detail seolah sistem telah selesai dibuat.</a:t>
            </a:r>
          </a:p>
          <a:p>
            <a:pPr>
              <a:buNone/>
              <a:defRPr/>
            </a:pPr>
            <a:endParaRPr lang="id-ID" dirty="0" smtClean="0"/>
          </a:p>
          <a:p>
            <a:pPr>
              <a:defRPr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Project UAS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id-ID" dirty="0" smtClean="0"/>
              <a:t>Buatlah dokumentasi tugas akhir anda sesuai topik yang telah disetujui. Dokumentasi yang dibuat adalah Bab 1 ( Pendahuluan ), Bab 2 ( Landasan Teori ) dan Bab 3 ( Analisa )</a:t>
            </a:r>
          </a:p>
          <a:p>
            <a:pPr marL="342900" lvl="1" indent="-342900"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id-ID" dirty="0" smtClean="0"/>
              <a:t>Presentasikan dan pertahankan tugas akhir anda tersebut di hadapan dosen penguji ( menjelang UAS )</a:t>
            </a:r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Diskusi Kelompok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Carilah orang yang memiliki topik TA dalam rumpun yang sama, misalnya Game, Sistem Informasi Akuntansi, E Commerce dsb. </a:t>
            </a:r>
          </a:p>
          <a:p>
            <a:r>
              <a:rPr lang="id-ID" dirty="0" smtClean="0"/>
              <a:t>Bergabunglah dalam kelompok maksimal 3 orang </a:t>
            </a:r>
          </a:p>
          <a:p>
            <a:r>
              <a:rPr lang="id-ID" dirty="0" smtClean="0"/>
              <a:t>Buatlah perkiraan sub bab yang sesuai untuk bab </a:t>
            </a:r>
            <a:r>
              <a:rPr lang="id-ID" dirty="0" smtClean="0"/>
              <a:t>3.</a:t>
            </a:r>
            <a:endParaRPr lang="id-ID" dirty="0" smtClean="0"/>
          </a:p>
          <a:p>
            <a:r>
              <a:rPr lang="id-ID" dirty="0" smtClean="0"/>
              <a:t>Berikan sedikit penjelasan tentang isi dari setiap sub bab tersebut.</a:t>
            </a:r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xmlns="" val="363965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7635</TotalTime>
  <Words>685</Words>
  <Application>Microsoft Office PowerPoint</Application>
  <PresentationFormat>On-screen Show (4:3)</PresentationFormat>
  <Paragraphs>145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Office Theme</vt:lpstr>
      <vt:lpstr>2_Office Theme</vt:lpstr>
      <vt:lpstr>Slide 1</vt:lpstr>
      <vt:lpstr>Analisa</vt:lpstr>
      <vt:lpstr>Analisa</vt:lpstr>
      <vt:lpstr>Survey</vt:lpstr>
      <vt:lpstr>Survey</vt:lpstr>
      <vt:lpstr>Tahapan Survey</vt:lpstr>
      <vt:lpstr>Phase 1: Buat Instrument</vt:lpstr>
      <vt:lpstr>Phase 1: Buat Instrument</vt:lpstr>
      <vt:lpstr>Phase 1: Buat Instrument</vt:lpstr>
      <vt:lpstr>Phase 1: Buat Instrument</vt:lpstr>
      <vt:lpstr>Phase 1: Buat Instrument</vt:lpstr>
      <vt:lpstr>Phase 1: Buat Instrument</vt:lpstr>
      <vt:lpstr>Phase 2: Uji Instrumen</vt:lpstr>
      <vt:lpstr>Phase 3: Tentukan Sample</vt:lpstr>
      <vt:lpstr>Phase 3: Tentukan Sample</vt:lpstr>
      <vt:lpstr>Phase 4: Interaksi</vt:lpstr>
      <vt:lpstr>Phase 5: Analisa Data</vt:lpstr>
      <vt:lpstr>Alternatif Sub Bab dalam Bab Analisa</vt:lpstr>
      <vt:lpstr>Alternatif Sub Bab dalam Bab Analisa</vt:lpstr>
      <vt:lpstr>Alternatif Sub Bab dalam Bab Analisa</vt:lpstr>
      <vt:lpstr>Rule of Thumbs</vt:lpstr>
      <vt:lpstr>Project UAS</vt:lpstr>
      <vt:lpstr>Diskusi Kelompok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USER</cp:lastModifiedBy>
  <cp:revision>26</cp:revision>
  <dcterms:created xsi:type="dcterms:W3CDTF">2017-12-08T09:42:55Z</dcterms:created>
  <dcterms:modified xsi:type="dcterms:W3CDTF">2018-04-17T10:08:15Z</dcterms:modified>
</cp:coreProperties>
</file>