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89" r:id="rId8"/>
    <p:sldId id="281" r:id="rId9"/>
    <p:sldId id="282" r:id="rId10"/>
    <p:sldId id="283" r:id="rId11"/>
    <p:sldId id="284" r:id="rId12"/>
    <p:sldId id="269" r:id="rId13"/>
    <p:sldId id="270" r:id="rId14"/>
    <p:sldId id="272" r:id="rId15"/>
    <p:sldId id="285" r:id="rId16"/>
    <p:sldId id="273" r:id="rId17"/>
    <p:sldId id="275" r:id="rId18"/>
    <p:sldId id="286" r:id="rId19"/>
    <p:sldId id="287" r:id="rId20"/>
    <p:sldId id="288" r:id="rId21"/>
    <p:sldId id="277" r:id="rId22"/>
    <p:sldId id="291" r:id="rId23"/>
    <p:sldId id="292" r:id="rId24"/>
    <p:sldId id="278" r:id="rId25"/>
    <p:sldId id="280" r:id="rId26"/>
    <p:sldId id="290" r:id="rId2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  <a:latin typeface="+mj-lt"/>
                <a:cs typeface="Helvetica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602038"/>
            <a:ext cx="77724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68" y="420450"/>
            <a:ext cx="1468188" cy="15931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4596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591970"/>
            <a:ext cx="7886700" cy="2852737"/>
          </a:xfrm>
        </p:spPr>
        <p:txBody>
          <a:bodyPr anchor="b"/>
          <a:lstStyle>
            <a:lvl1pPr>
              <a:defRPr sz="6000" b="0">
                <a:latin typeface="+mj-lt"/>
                <a:cs typeface="Helvetica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5660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88480" y="6356351"/>
            <a:ext cx="997569" cy="365125"/>
          </a:xfrm>
        </p:spPr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79" y="5152687"/>
            <a:ext cx="1347202" cy="146212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5935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5065" y="365126"/>
            <a:ext cx="6910285" cy="1325563"/>
          </a:xfrm>
        </p:spPr>
        <p:txBody>
          <a:bodyPr/>
          <a:lstStyle>
            <a:lvl1pPr>
              <a:defRPr b="0" i="0">
                <a:latin typeface="+mj-lt"/>
                <a:cs typeface="Helvetica" pitchFamily="34" charset="0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488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65" y="365126"/>
            <a:ext cx="6910285" cy="1325563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0ADB37E1-FD43-4A78-B4D3-B886A4FD89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39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65" y="365126"/>
            <a:ext cx="6911476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10" name="Picture 6">
            <a:extLst>
              <a:ext uri="{FF2B5EF4-FFF2-40B4-BE49-F238E27FC236}">
                <a16:creationId xmlns="" xmlns:a16="http://schemas.microsoft.com/office/drawing/2014/main" id="{F90901F1-C4F2-4F7F-B6C2-6598F5911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912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65" y="365126"/>
            <a:ext cx="691028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6" name="Picture 6">
            <a:extLst>
              <a:ext uri="{FF2B5EF4-FFF2-40B4-BE49-F238E27FC236}">
                <a16:creationId xmlns="" xmlns:a16="http://schemas.microsoft.com/office/drawing/2014/main" id="{86D4C3D9-B9AE-411C-A449-BCF4EF418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281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="" xmlns:p14="http://schemas.microsoft.com/office/powerpoint/2010/main" val="94122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65" y="457200"/>
            <a:ext cx="1973954" cy="1600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7C6CE037-4562-4509-93E4-25589F3E3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2893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065" y="457200"/>
            <a:ext cx="1973954" cy="1600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FB61F3F5-78C0-4795-B3A5-7CBCFC2DC1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9" y="323379"/>
            <a:ext cx="1315936" cy="1444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="" xmlns:a16="http://schemas.microsoft.com/office/drawing/2014/main" id="{21C07B93-16A8-4FEC-B9B7-485CEAD67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461" y="2476559"/>
            <a:ext cx="7886700" cy="1325563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id-ID" dirty="0"/>
              <a:t>Terima Kasih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="" xmlns:a16="http://schemas.microsoft.com/office/drawing/2014/main" id="{1DAB89F5-F152-401C-935D-EB9A6D1C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="" xmlns:a16="http://schemas.microsoft.com/office/drawing/2014/main" id="{2F63013C-D2C8-4842-96C3-D1FF2193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="" xmlns:a16="http://schemas.microsoft.com/office/drawing/2014/main" id="{95598483-102E-474D-B3B0-632AE318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="" xmlns:p14="http://schemas.microsoft.com/office/powerpoint/2010/main" val="56124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062E3-9C7F-4822-B24F-A69341C64A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2C53E-7C5B-40FF-8752-A559DB4ED442}" type="datetimeFigureOut">
              <a:rPr lang="id-ID" smtClean="0"/>
              <a:pPr/>
              <a:t>04/03/2019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411B9-AB24-4B1A-8255-D6CF144867C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="" xmlns:p14="http://schemas.microsoft.com/office/powerpoint/2010/main" val="567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Literature Review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WHY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 smtClean="0"/>
          </a:p>
          <a:p>
            <a:r>
              <a:rPr lang="id-ID" dirty="0" smtClean="0"/>
              <a:t>To dig a little bit more about the problem</a:t>
            </a:r>
          </a:p>
          <a:p>
            <a:r>
              <a:rPr lang="id-ID" dirty="0" smtClean="0"/>
              <a:t>To learn what have been done previously</a:t>
            </a:r>
          </a:p>
          <a:p>
            <a:r>
              <a:rPr lang="id-ID" dirty="0" smtClean="0"/>
              <a:t>To find possible solutions proposed</a:t>
            </a:r>
          </a:p>
          <a:p>
            <a:r>
              <a:rPr lang="id-ID" dirty="0" smtClean="0"/>
              <a:t>To stimulate new ideas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WHAT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id-ID" dirty="0" smtClean="0"/>
          </a:p>
          <a:p>
            <a:pPr marL="609600" indent="-609600">
              <a:buFontTx/>
              <a:buAutoNum type="arabicPeriod"/>
            </a:pPr>
            <a:r>
              <a:rPr lang="en-US" sz="2400" dirty="0" smtClean="0"/>
              <a:t>Self-study reviews</a:t>
            </a:r>
          </a:p>
          <a:p>
            <a:pPr marL="990600" lvl="1" indent="-533400"/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pemahaman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belajar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peneliti</a:t>
            </a:r>
            <a:r>
              <a:rPr lang="en-US" dirty="0" smtClean="0"/>
              <a:t> lain</a:t>
            </a:r>
          </a:p>
          <a:p>
            <a:pPr marL="990600" lvl="1" indent="-533400"/>
            <a:r>
              <a:rPr lang="en-US" dirty="0" err="1" smtClean="0"/>
              <a:t>Meningkatkan</a:t>
            </a:r>
            <a:r>
              <a:rPr lang="en-US" dirty="0" smtClean="0"/>
              <a:t> </a:t>
            </a:r>
            <a:r>
              <a:rPr lang="en-US" dirty="0" err="1" smtClean="0"/>
              <a:t>kepercayaan</a:t>
            </a:r>
            <a:r>
              <a:rPr lang="en-US" dirty="0" smtClean="0"/>
              <a:t> </a:t>
            </a:r>
            <a:r>
              <a:rPr lang="en-US" dirty="0" err="1" smtClean="0"/>
              <a:t>diri</a:t>
            </a:r>
            <a:r>
              <a:rPr lang="en-US" dirty="0" smtClean="0"/>
              <a:t> </a:t>
            </a:r>
            <a:r>
              <a:rPr lang="en-US" dirty="0" err="1" smtClean="0"/>
              <a:t>pembaca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peneliti</a:t>
            </a:r>
            <a:endParaRPr lang="en-US" dirty="0" smtClean="0"/>
          </a:p>
          <a:p>
            <a:pPr marL="609600" indent="-609600">
              <a:buFontTx/>
              <a:buAutoNum type="arabicPeriod"/>
            </a:pPr>
            <a:r>
              <a:rPr lang="en-US" sz="2400" dirty="0" smtClean="0"/>
              <a:t>Context reviews</a:t>
            </a:r>
          </a:p>
          <a:p>
            <a:pPr marL="990600" lvl="1" indent="-533400"/>
            <a:r>
              <a:rPr lang="en-US" dirty="0" err="1" smtClean="0"/>
              <a:t>Mencipt</a:t>
            </a:r>
            <a:r>
              <a:rPr lang="id-ID" dirty="0" smtClean="0"/>
              <a:t>a</a:t>
            </a: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hubungan</a:t>
            </a:r>
            <a:r>
              <a:rPr lang="en-US" dirty="0" smtClean="0"/>
              <a:t> – </a:t>
            </a:r>
            <a:r>
              <a:rPr lang="en-US" dirty="0" err="1" smtClean="0"/>
              <a:t>hubungan</a:t>
            </a:r>
            <a:r>
              <a:rPr lang="en-US" dirty="0" smtClean="0"/>
              <a:t> yang </a:t>
            </a:r>
            <a:r>
              <a:rPr lang="en-US" dirty="0" err="1" smtClean="0"/>
              <a:t>terkait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yang </a:t>
            </a:r>
            <a:r>
              <a:rPr lang="en-US" dirty="0" err="1" smtClean="0"/>
              <a:t>dilakukan</a:t>
            </a:r>
            <a:r>
              <a:rPr lang="en-US" dirty="0" smtClean="0"/>
              <a:t>.</a:t>
            </a:r>
          </a:p>
          <a:p>
            <a:pPr marL="990600" lvl="1" indent="-533400"/>
            <a:r>
              <a:rPr lang="en-US" dirty="0" err="1" smtClean="0"/>
              <a:t>Membangun</a:t>
            </a:r>
            <a:r>
              <a:rPr lang="en-US" dirty="0" smtClean="0"/>
              <a:t> </a:t>
            </a:r>
            <a:r>
              <a:rPr lang="en-US" dirty="0" err="1" smtClean="0"/>
              <a:t>kesan</a:t>
            </a:r>
            <a:r>
              <a:rPr lang="en-US" dirty="0" smtClean="0"/>
              <a:t> </a:t>
            </a:r>
            <a:r>
              <a:rPr lang="en-US" dirty="0" err="1" smtClean="0"/>
              <a:t>signifikan</a:t>
            </a:r>
            <a:r>
              <a:rPr lang="en-US" dirty="0" smtClean="0"/>
              <a:t>/</a:t>
            </a:r>
            <a:r>
              <a:rPr lang="en-US" dirty="0" err="1" smtClean="0"/>
              <a:t>pentingnya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relevannya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proyek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WHAT ?</a:t>
            </a:r>
            <a:endParaRPr 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178050"/>
            <a:ext cx="7605713" cy="4084638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 startAt="3"/>
            </a:pPr>
            <a:r>
              <a:rPr lang="en-US" sz="2400" dirty="0" smtClean="0"/>
              <a:t>Historical reviews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sz="2000" dirty="0" err="1" smtClean="0"/>
              <a:t>Menunjukkan</a:t>
            </a:r>
            <a:r>
              <a:rPr lang="en-US" sz="2000" dirty="0" smtClean="0"/>
              <a:t> </a:t>
            </a:r>
            <a:r>
              <a:rPr lang="en-US" sz="2000" dirty="0" err="1" smtClean="0"/>
              <a:t>perkembangan</a:t>
            </a:r>
            <a:r>
              <a:rPr lang="en-US" sz="2000" dirty="0" smtClean="0"/>
              <a:t> </a:t>
            </a:r>
            <a:r>
              <a:rPr lang="en-US" sz="2000" dirty="0" err="1" smtClean="0"/>
              <a:t>ide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teori</a:t>
            </a:r>
            <a:r>
              <a:rPr lang="en-US" sz="2000" dirty="0" smtClean="0"/>
              <a:t> </a:t>
            </a:r>
            <a:r>
              <a:rPr lang="en-US" sz="2000" dirty="0" err="1" smtClean="0"/>
              <a:t>dari</a:t>
            </a:r>
            <a:r>
              <a:rPr lang="en-US" sz="2000" dirty="0" smtClean="0"/>
              <a:t> </a:t>
            </a:r>
            <a:r>
              <a:rPr lang="en-US" sz="2000" dirty="0" err="1" smtClean="0"/>
              <a:t>waktu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waktu</a:t>
            </a:r>
            <a:endParaRPr lang="en-US" sz="2000" dirty="0" smtClean="0"/>
          </a:p>
          <a:p>
            <a:pPr marL="990600" lvl="1" indent="-533400">
              <a:lnSpc>
                <a:spcPct val="90000"/>
              </a:lnSpc>
            </a:pPr>
            <a:r>
              <a:rPr lang="en-US" sz="2000" dirty="0" err="1" smtClean="0"/>
              <a:t>Biasanya</a:t>
            </a:r>
            <a:r>
              <a:rPr lang="en-US" sz="2000" dirty="0" smtClean="0"/>
              <a:t> </a:t>
            </a:r>
            <a:r>
              <a:rPr lang="en-US" sz="2000" dirty="0" err="1" smtClean="0"/>
              <a:t>hanya</a:t>
            </a:r>
            <a:r>
              <a:rPr lang="en-US" sz="2000" dirty="0" smtClean="0"/>
              <a:t>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topik</a:t>
            </a:r>
            <a:r>
              <a:rPr lang="en-US" sz="2000" dirty="0" smtClean="0"/>
              <a:t>/</a:t>
            </a:r>
            <a:r>
              <a:rPr lang="en-US" sz="2000" dirty="0" err="1" smtClean="0"/>
              <a:t>ide</a:t>
            </a:r>
            <a:r>
              <a:rPr lang="en-US" sz="2000" dirty="0" smtClean="0"/>
              <a:t> yang </a:t>
            </a:r>
            <a:r>
              <a:rPr lang="en-US" sz="2000" dirty="0" err="1" smtClean="0"/>
              <a:t>sangat</a:t>
            </a:r>
            <a:r>
              <a:rPr lang="en-US" sz="2000" dirty="0" smtClean="0"/>
              <a:t> </a:t>
            </a:r>
            <a:r>
              <a:rPr lang="en-US" sz="2000" dirty="0" err="1" smtClean="0"/>
              <a:t>penting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penelitian</a:t>
            </a:r>
            <a:r>
              <a:rPr lang="en-US" sz="2000" dirty="0" smtClean="0"/>
              <a:t>.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marL="609600" indent="-609600">
              <a:lnSpc>
                <a:spcPct val="90000"/>
              </a:lnSpc>
              <a:buFontTx/>
              <a:buAutoNum type="arabicPeriod" startAt="4"/>
            </a:pPr>
            <a:r>
              <a:rPr lang="en-US" sz="2400" dirty="0" smtClean="0"/>
              <a:t>Theoretical reviews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sz="2000" dirty="0" err="1" smtClean="0"/>
              <a:t>Menyajikan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mengevaluasi</a:t>
            </a:r>
            <a:r>
              <a:rPr lang="en-US" sz="2000" dirty="0" smtClean="0"/>
              <a:t> </a:t>
            </a:r>
            <a:r>
              <a:rPr lang="en-US" sz="2000" dirty="0" err="1" smtClean="0"/>
              <a:t>berbagai</a:t>
            </a:r>
            <a:r>
              <a:rPr lang="en-US" sz="2000" dirty="0" smtClean="0"/>
              <a:t> </a:t>
            </a:r>
            <a:r>
              <a:rPr lang="en-US" sz="2000" dirty="0" err="1" smtClean="0"/>
              <a:t>teori</a:t>
            </a:r>
            <a:r>
              <a:rPr lang="en-US" sz="2000" dirty="0" smtClean="0"/>
              <a:t> yang </a:t>
            </a:r>
            <a:r>
              <a:rPr lang="en-US" sz="2000" dirty="0" err="1" smtClean="0"/>
              <a:t>berbeda</a:t>
            </a:r>
            <a:r>
              <a:rPr lang="en-US" sz="2000" dirty="0" smtClean="0"/>
              <a:t> </a:t>
            </a:r>
            <a:r>
              <a:rPr lang="en-US" sz="2000" dirty="0" err="1" smtClean="0"/>
              <a:t>atas</a:t>
            </a:r>
            <a:r>
              <a:rPr lang="en-US" sz="2000" dirty="0" smtClean="0"/>
              <a:t> </a:t>
            </a:r>
            <a:r>
              <a:rPr lang="en-US" sz="2000" dirty="0" err="1" smtClean="0"/>
              <a:t>topik</a:t>
            </a:r>
            <a:r>
              <a:rPr lang="en-US" sz="2000" dirty="0" smtClean="0"/>
              <a:t> yang </a:t>
            </a:r>
            <a:r>
              <a:rPr lang="en-US" sz="2000" dirty="0" err="1" smtClean="0"/>
              <a:t>sama</a:t>
            </a:r>
            <a:endParaRPr lang="en-US" sz="2000" dirty="0" smtClean="0"/>
          </a:p>
          <a:p>
            <a:pPr marL="990600" lvl="1" indent="-533400">
              <a:lnSpc>
                <a:spcPct val="90000"/>
              </a:lnSpc>
            </a:pPr>
            <a:r>
              <a:rPr lang="en-US" sz="2000" dirty="0" err="1" smtClean="0"/>
              <a:t>Dapat</a:t>
            </a:r>
            <a:r>
              <a:rPr lang="en-US" sz="2000" dirty="0" smtClean="0"/>
              <a:t> pula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mengintegrasikan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mengembangkan</a:t>
            </a:r>
            <a:r>
              <a:rPr lang="en-US" sz="2000" dirty="0" smtClean="0"/>
              <a:t> </a:t>
            </a:r>
            <a:r>
              <a:rPr lang="en-US" sz="2000" dirty="0" err="1" smtClean="0"/>
              <a:t>teori</a:t>
            </a:r>
            <a:r>
              <a:rPr lang="en-US" sz="2000" dirty="0" smtClean="0"/>
              <a:t> – </a:t>
            </a:r>
            <a:r>
              <a:rPr lang="en-US" sz="2000" dirty="0" err="1" smtClean="0"/>
              <a:t>teori</a:t>
            </a:r>
            <a:r>
              <a:rPr lang="en-US" sz="2000" dirty="0" smtClean="0"/>
              <a:t> yang </a:t>
            </a:r>
            <a:r>
              <a:rPr lang="en-US" sz="2000" dirty="0" err="1" smtClean="0"/>
              <a:t>telah</a:t>
            </a:r>
            <a:r>
              <a:rPr lang="en-US" sz="2000" dirty="0" smtClean="0"/>
              <a:t> </a:t>
            </a:r>
            <a:r>
              <a:rPr lang="en-US" sz="2000" dirty="0" err="1" smtClean="0"/>
              <a:t>ada</a:t>
            </a:r>
            <a:endParaRPr lang="en-US" sz="2000" dirty="0" smtClean="0"/>
          </a:p>
          <a:p>
            <a:pPr marL="990600" lvl="1" indent="-533400">
              <a:lnSpc>
                <a:spcPct val="90000"/>
              </a:lnSpc>
              <a:buFontTx/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WHAT ?</a:t>
            </a:r>
            <a:endParaRPr 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85950"/>
            <a:ext cx="8305800" cy="4210050"/>
          </a:xfrm>
        </p:spPr>
        <p:txBody>
          <a:bodyPr/>
          <a:lstStyle/>
          <a:p>
            <a:pPr marL="609600" indent="-609600">
              <a:buFontTx/>
              <a:buAutoNum type="arabicPeriod" startAt="5"/>
            </a:pPr>
            <a:r>
              <a:rPr lang="en-US" sz="2800" smtClean="0"/>
              <a:t>Integrative reviews</a:t>
            </a:r>
          </a:p>
          <a:p>
            <a:pPr marL="990600" lvl="1" indent="-533400"/>
            <a:r>
              <a:rPr lang="en-US" sz="2400" smtClean="0"/>
              <a:t>Menunjukkan pengembangan terkini dari suatu topik pengetahuan</a:t>
            </a:r>
          </a:p>
          <a:p>
            <a:pPr marL="990600" lvl="1" indent="-533400">
              <a:buFontTx/>
              <a:buNone/>
            </a:pPr>
            <a:endParaRPr lang="en-US" sz="2400" smtClean="0"/>
          </a:p>
          <a:p>
            <a:pPr marL="609600" indent="-609600">
              <a:buFontTx/>
              <a:buAutoNum type="arabicPeriod" startAt="6"/>
            </a:pPr>
            <a:r>
              <a:rPr lang="en-US" sz="2800" smtClean="0"/>
              <a:t>Methodological reviews</a:t>
            </a:r>
          </a:p>
          <a:p>
            <a:pPr marL="990600" lvl="1" indent="-533400"/>
            <a:r>
              <a:rPr lang="en-US" sz="2400" smtClean="0"/>
              <a:t>Mengevaluasi kelebihan dan kelemahan metodologi penelitian yang dilakukan peneliti sebelumnya</a:t>
            </a:r>
          </a:p>
          <a:p>
            <a:pPr marL="990600" lvl="1" indent="-533400"/>
            <a:r>
              <a:rPr lang="en-US" sz="2400" smtClean="0"/>
              <a:t>Mengamati dan mengkritisi hasil-hasil penelitian sejumlah besar penelitian.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HOW 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Mencari</a:t>
            </a:r>
            <a:r>
              <a:rPr lang="en-US" dirty="0" smtClean="0"/>
              <a:t> </a:t>
            </a:r>
            <a:r>
              <a:rPr lang="en-US" dirty="0" err="1" smtClean="0"/>
              <a:t>Literatur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endParaRPr lang="id-ID" dirty="0" smtClean="0"/>
          </a:p>
          <a:p>
            <a:pPr marL="514350" indent="-514350">
              <a:buAutoNum type="arabicPeriod"/>
            </a:pPr>
            <a:r>
              <a:rPr lang="en-US" dirty="0" err="1" smtClean="0"/>
              <a:t>Melakukan</a:t>
            </a:r>
            <a:r>
              <a:rPr lang="en-US" dirty="0" smtClean="0"/>
              <a:t> Literature Review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Sistematis</a:t>
            </a:r>
            <a:endParaRPr lang="id-ID" dirty="0" smtClean="0"/>
          </a:p>
          <a:p>
            <a:pPr marL="514350" indent="-514350">
              <a:buAutoNum type="arabicPeriod"/>
            </a:pPr>
            <a:r>
              <a:rPr lang="id-ID" dirty="0" smtClean="0"/>
              <a:t>Menuliskan hasil literature review pada laporan penelitian</a:t>
            </a:r>
          </a:p>
          <a:p>
            <a:pPr marL="514350" indent="-514350">
              <a:buAutoNum type="arabicPeriod"/>
            </a:pPr>
            <a:endParaRPr lang="id-ID" dirty="0" smtClean="0"/>
          </a:p>
          <a:p>
            <a:endParaRPr lang="id-ID" dirty="0" smtClean="0"/>
          </a:p>
          <a:p>
            <a:endParaRPr lang="id-ID" dirty="0" smtClean="0"/>
          </a:p>
          <a:p>
            <a:pPr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Mencari</a:t>
            </a:r>
            <a:r>
              <a:rPr lang="en-US" sz="4000" dirty="0" smtClean="0"/>
              <a:t> </a:t>
            </a:r>
            <a:r>
              <a:rPr lang="en-US" sz="4000" dirty="0" err="1" smtClean="0"/>
              <a:t>Literatur</a:t>
            </a:r>
            <a:r>
              <a:rPr lang="en-US" sz="4000" dirty="0" smtClean="0"/>
              <a:t> </a:t>
            </a:r>
            <a:r>
              <a:rPr lang="en-US" sz="4000" dirty="0" err="1" smtClean="0"/>
              <a:t>Penelitian</a:t>
            </a:r>
            <a:endParaRPr lang="id-ID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Jurnal</a:t>
            </a:r>
            <a:r>
              <a:rPr lang="en-US" dirty="0" smtClean="0"/>
              <a:t> </a:t>
            </a:r>
            <a:r>
              <a:rPr lang="en-US" dirty="0" err="1" smtClean="0"/>
              <a:t>Akademik</a:t>
            </a:r>
            <a:endParaRPr lang="en-US" dirty="0" smtClean="0"/>
          </a:p>
          <a:p>
            <a:r>
              <a:rPr lang="en-US" dirty="0" err="1" smtClean="0"/>
              <a:t>Prosiding</a:t>
            </a:r>
            <a:r>
              <a:rPr lang="en-US" dirty="0" smtClean="0"/>
              <a:t> </a:t>
            </a:r>
            <a:r>
              <a:rPr lang="en-US" dirty="0" err="1" smtClean="0"/>
              <a:t>Konferensi</a:t>
            </a:r>
            <a:endParaRPr lang="en-US" dirty="0" smtClean="0"/>
          </a:p>
          <a:p>
            <a:r>
              <a:rPr lang="en-US" dirty="0" err="1" smtClean="0"/>
              <a:t>Buku</a:t>
            </a:r>
            <a:endParaRPr lang="en-US" dirty="0" smtClean="0"/>
          </a:p>
          <a:p>
            <a:r>
              <a:rPr lang="en-US" dirty="0" err="1" smtClean="0"/>
              <a:t>Disertasi</a:t>
            </a:r>
            <a:endParaRPr lang="en-US" dirty="0" smtClean="0"/>
          </a:p>
          <a:p>
            <a:r>
              <a:rPr lang="en-US" dirty="0" err="1" smtClean="0"/>
              <a:t>Dokumen</a:t>
            </a:r>
            <a:r>
              <a:rPr lang="en-US" dirty="0" smtClean="0"/>
              <a:t> </a:t>
            </a:r>
            <a:r>
              <a:rPr lang="en-US" dirty="0" err="1" smtClean="0"/>
              <a:t>pemerintah</a:t>
            </a:r>
            <a:endParaRPr lang="en-US" dirty="0" smtClean="0"/>
          </a:p>
          <a:p>
            <a:r>
              <a:rPr lang="en-US" dirty="0" smtClean="0"/>
              <a:t>Web</a:t>
            </a:r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  <p:pic>
        <p:nvPicPr>
          <p:cNvPr id="4" name="Picture 4" descr="rqdfk4ez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9075" y="1676400"/>
            <a:ext cx="3311525" cy="319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Jurnal</a:t>
            </a:r>
            <a:r>
              <a:rPr lang="en-US" dirty="0" smtClean="0"/>
              <a:t> </a:t>
            </a:r>
            <a:r>
              <a:rPr lang="en-US" dirty="0" err="1" smtClean="0"/>
              <a:t>Akademik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literatur</a:t>
            </a:r>
            <a:r>
              <a:rPr lang="en-US" dirty="0" smtClean="0"/>
              <a:t> yang paling </a:t>
            </a:r>
            <a:r>
              <a:rPr lang="en-US" dirty="0" err="1" smtClean="0"/>
              <a:t>utama</a:t>
            </a:r>
            <a:endParaRPr lang="en-US" dirty="0" smtClean="0"/>
          </a:p>
          <a:p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yang </a:t>
            </a:r>
            <a:r>
              <a:rPr lang="en-US" dirty="0" err="1" smtClean="0"/>
              <a:t>cermat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Waktu</a:t>
            </a:r>
            <a:r>
              <a:rPr lang="en-US" dirty="0" smtClean="0"/>
              <a:t> yang </a:t>
            </a:r>
            <a:r>
              <a:rPr lang="en-US" dirty="0" err="1" smtClean="0"/>
              <a:t>dibutuhkan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penerbitan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mencapai</a:t>
            </a:r>
            <a:r>
              <a:rPr lang="en-US" dirty="0" smtClean="0"/>
              <a:t> 2 </a:t>
            </a:r>
            <a:r>
              <a:rPr lang="en-US" dirty="0" err="1" smtClean="0"/>
              <a:t>tahun</a:t>
            </a:r>
            <a:r>
              <a:rPr lang="en-US" dirty="0" smtClean="0"/>
              <a:t> </a:t>
            </a:r>
            <a:r>
              <a:rPr lang="en-US" dirty="0" err="1" smtClean="0"/>
              <a:t>sejak</a:t>
            </a:r>
            <a:r>
              <a:rPr lang="en-US" dirty="0" smtClean="0"/>
              <a:t> </a:t>
            </a:r>
            <a:r>
              <a:rPr lang="en-US" dirty="0" err="1" smtClean="0"/>
              <a:t>tanggal</a:t>
            </a:r>
            <a:r>
              <a:rPr lang="en-US" dirty="0" smtClean="0"/>
              <a:t> </a:t>
            </a:r>
            <a:r>
              <a:rPr lang="en-US" dirty="0" err="1" smtClean="0"/>
              <a:t>pengumpulan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.</a:t>
            </a:r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Prosiding</a:t>
            </a:r>
            <a:r>
              <a:rPr lang="en-US" dirty="0" smtClean="0"/>
              <a:t> </a:t>
            </a:r>
            <a:r>
              <a:rPr lang="en-US" dirty="0" err="1" smtClean="0"/>
              <a:t>Konferensi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referensi</a:t>
            </a:r>
            <a:r>
              <a:rPr lang="en-US" dirty="0" smtClean="0"/>
              <a:t> yang paling up-to-date</a:t>
            </a:r>
          </a:p>
          <a:p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konferensi</a:t>
            </a:r>
            <a:r>
              <a:rPr lang="en-US" dirty="0" smtClean="0"/>
              <a:t> yang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</a:t>
            </a:r>
            <a:r>
              <a:rPr lang="en-US" dirty="0" err="1" smtClean="0"/>
              <a:t>penilaian</a:t>
            </a:r>
            <a:r>
              <a:rPr lang="en-US" dirty="0" smtClean="0"/>
              <a:t> yang </a:t>
            </a:r>
            <a:r>
              <a:rPr lang="en-US" dirty="0" err="1" smtClean="0"/>
              <a:t>cermat</a:t>
            </a:r>
            <a:r>
              <a:rPr lang="en-US" dirty="0" smtClean="0"/>
              <a:t> (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dilihat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penerimaan</a:t>
            </a:r>
            <a:r>
              <a:rPr lang="en-US" dirty="0" smtClean="0"/>
              <a:t> </a:t>
            </a:r>
            <a:r>
              <a:rPr lang="en-US" dirty="0" err="1" smtClean="0"/>
              <a:t>artikel</a:t>
            </a:r>
            <a:r>
              <a:rPr lang="en-US" dirty="0" smtClean="0"/>
              <a:t>)</a:t>
            </a:r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Buku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Disarankan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buku</a:t>
            </a:r>
            <a:r>
              <a:rPr lang="en-US" dirty="0" smtClean="0"/>
              <a:t> yang </a:t>
            </a:r>
            <a:r>
              <a:rPr lang="en-US" dirty="0" err="1" smtClean="0"/>
              <a:t>memuat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kumpulan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artikel</a:t>
            </a:r>
            <a:r>
              <a:rPr lang="en-US" dirty="0" smtClean="0"/>
              <a:t> – </a:t>
            </a:r>
            <a:r>
              <a:rPr lang="en-US" dirty="0" err="1" smtClean="0"/>
              <a:t>artikel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Buku</a:t>
            </a:r>
            <a:r>
              <a:rPr lang="en-US" dirty="0" smtClean="0"/>
              <a:t> – </a:t>
            </a:r>
            <a:r>
              <a:rPr lang="en-US" dirty="0" err="1" smtClean="0"/>
              <a:t>buku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biasanya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gabungan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artikel</a:t>
            </a:r>
            <a:r>
              <a:rPr lang="en-US" dirty="0" smtClean="0"/>
              <a:t> </a:t>
            </a:r>
            <a:r>
              <a:rPr lang="en-US" dirty="0" err="1" smtClean="0"/>
              <a:t>ilmiah</a:t>
            </a:r>
            <a:r>
              <a:rPr lang="en-US" dirty="0" smtClean="0"/>
              <a:t> yang </a:t>
            </a:r>
            <a:r>
              <a:rPr lang="en-US" dirty="0" err="1" smtClean="0"/>
              <a:t>dipilih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prosiding</a:t>
            </a:r>
            <a:r>
              <a:rPr lang="en-US" dirty="0" smtClean="0"/>
              <a:t> </a:t>
            </a:r>
            <a:r>
              <a:rPr lang="en-US" dirty="0" err="1" smtClean="0"/>
              <a:t>konferensi</a:t>
            </a:r>
            <a:r>
              <a:rPr lang="en-US" dirty="0" smtClean="0"/>
              <a:t>.</a:t>
            </a:r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Disertasi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disertasi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pencapaian</a:t>
            </a:r>
            <a:r>
              <a:rPr lang="en-US" dirty="0" smtClean="0"/>
              <a:t> </a:t>
            </a:r>
            <a:r>
              <a:rPr lang="en-US" dirty="0" err="1" smtClean="0"/>
              <a:t>gelar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, </a:t>
            </a:r>
            <a:r>
              <a:rPr lang="en-US" dirty="0" err="1" smtClean="0"/>
              <a:t>biasanya</a:t>
            </a:r>
            <a:r>
              <a:rPr lang="en-US" dirty="0" smtClean="0"/>
              <a:t> </a:t>
            </a:r>
            <a:r>
              <a:rPr lang="en-US" dirty="0" err="1" smtClean="0"/>
              <a:t>gelar</a:t>
            </a:r>
            <a:r>
              <a:rPr lang="en-US" dirty="0" smtClean="0"/>
              <a:t> PhD.</a:t>
            </a:r>
          </a:p>
          <a:p>
            <a:r>
              <a:rPr lang="en-US" dirty="0" smtClean="0"/>
              <a:t>Kumpulan </a:t>
            </a:r>
            <a:r>
              <a:rPr lang="en-US" dirty="0" err="1" smtClean="0"/>
              <a:t>salinan</a:t>
            </a:r>
            <a:r>
              <a:rPr lang="en-US" dirty="0" smtClean="0"/>
              <a:t> </a:t>
            </a:r>
            <a:r>
              <a:rPr lang="en-US" dirty="0" err="1" smtClean="0"/>
              <a:t>lengkap</a:t>
            </a:r>
            <a:r>
              <a:rPr lang="en-US" dirty="0" smtClean="0"/>
              <a:t> </a:t>
            </a:r>
            <a:r>
              <a:rPr lang="en-US" dirty="0" err="1" smtClean="0"/>
              <a:t>disertasi</a:t>
            </a:r>
            <a:r>
              <a:rPr lang="en-US" dirty="0" smtClean="0"/>
              <a:t> </a:t>
            </a:r>
            <a:r>
              <a:rPr lang="en-US" dirty="0" err="1" smtClean="0"/>
              <a:t>disimpan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perpustakaan</a:t>
            </a:r>
            <a:r>
              <a:rPr lang="en-US" dirty="0" smtClean="0"/>
              <a:t> </a:t>
            </a:r>
            <a:r>
              <a:rPr lang="en-US" dirty="0" err="1" smtClean="0"/>
              <a:t>universitas</a:t>
            </a:r>
            <a:r>
              <a:rPr lang="en-US" dirty="0" smtClean="0"/>
              <a:t> </a:t>
            </a:r>
            <a:r>
              <a:rPr lang="en-US" dirty="0" err="1" smtClean="0"/>
              <a:t>terkait</a:t>
            </a:r>
            <a:r>
              <a:rPr lang="en-US" dirty="0" smtClean="0"/>
              <a:t>.</a:t>
            </a:r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Dokumen Pemerintah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Dapat berupa laporan yang dipublikasikan oleh proyek penelitian yang disponsori oleh pemerintah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Jurnal Dagang dan Laporan Penelitian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Tidak melalui proses referee (proses penilaian kualitas penelitian oleh sesama peneliti di bidangnya)</a:t>
            </a:r>
          </a:p>
          <a:p>
            <a:r>
              <a:rPr lang="en-US" smtClean="0"/>
              <a:t>Sehingga kualitasnya tidak dapat dipastikan</a:t>
            </a:r>
          </a:p>
          <a:p>
            <a:r>
              <a:rPr lang="en-US" smtClean="0"/>
              <a:t>Up-to-date sehingga sering bermanfaat dan penting untuk sejumlah penelitian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Web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 smtClean="0"/>
              <a:t>situs</a:t>
            </a:r>
            <a:r>
              <a:rPr lang="en-US" dirty="0" smtClean="0"/>
              <a:t> </a:t>
            </a:r>
            <a:r>
              <a:rPr lang="en-US" dirty="0" err="1" smtClean="0"/>
              <a:t>menyediakan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pengetahuan</a:t>
            </a:r>
            <a:r>
              <a:rPr lang="en-US" dirty="0" smtClean="0"/>
              <a:t> yang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Namun</a:t>
            </a:r>
            <a:r>
              <a:rPr lang="en-US" dirty="0" smtClean="0"/>
              <a:t> </a:t>
            </a:r>
            <a:r>
              <a:rPr lang="en-US" dirty="0" err="1" smtClean="0"/>
              <a:t>tingkat</a:t>
            </a:r>
            <a:r>
              <a:rPr lang="en-US" dirty="0" smtClean="0"/>
              <a:t> </a:t>
            </a:r>
            <a:r>
              <a:rPr lang="en-US" dirty="0" err="1" smtClean="0"/>
              <a:t>kualitas</a:t>
            </a:r>
            <a:r>
              <a:rPr lang="en-US" dirty="0" smtClean="0"/>
              <a:t> </a:t>
            </a:r>
            <a:r>
              <a:rPr lang="en-US" dirty="0" err="1" smtClean="0"/>
              <a:t>tiap</a:t>
            </a:r>
            <a:r>
              <a:rPr lang="en-US" dirty="0" smtClean="0"/>
              <a:t> </a:t>
            </a:r>
            <a:r>
              <a:rPr lang="en-US" dirty="0" err="1" smtClean="0"/>
              <a:t>situs</a:t>
            </a:r>
            <a:r>
              <a:rPr lang="en-US" dirty="0" smtClean="0"/>
              <a:t>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bervariasi</a:t>
            </a:r>
            <a:endParaRPr lang="en-US" dirty="0" smtClean="0"/>
          </a:p>
          <a:p>
            <a:pPr lvl="1"/>
            <a:r>
              <a:rPr lang="en-US" dirty="0" err="1" smtClean="0"/>
              <a:t>Sejumlah</a:t>
            </a:r>
            <a:r>
              <a:rPr lang="en-US" dirty="0" smtClean="0"/>
              <a:t> Journal Online yang </a:t>
            </a:r>
            <a:r>
              <a:rPr lang="en-US" dirty="0" err="1" smtClean="0"/>
              <a:t>berkualitas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proses</a:t>
            </a:r>
            <a:r>
              <a:rPr lang="en-US" dirty="0" smtClean="0"/>
              <a:t> referee yang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Di lain </a:t>
            </a:r>
            <a:r>
              <a:rPr lang="en-US" dirty="0" err="1" smtClean="0"/>
              <a:t>pihak</a:t>
            </a:r>
            <a:r>
              <a:rPr lang="en-US" dirty="0" smtClean="0"/>
              <a:t>,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materi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internet yang </a:t>
            </a:r>
            <a:r>
              <a:rPr lang="en-US" dirty="0" err="1" smtClean="0"/>
              <a:t>materinya</a:t>
            </a:r>
            <a:r>
              <a:rPr lang="en-US" dirty="0" smtClean="0"/>
              <a:t> </a:t>
            </a:r>
            <a:r>
              <a:rPr lang="en-US" dirty="0" err="1" smtClean="0"/>
              <a:t>sangat</a:t>
            </a:r>
            <a:r>
              <a:rPr lang="en-US" dirty="0" smtClean="0"/>
              <a:t> </a:t>
            </a:r>
            <a:r>
              <a:rPr lang="en-US" dirty="0" err="1" smtClean="0"/>
              <a:t>meragukan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dicermati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hati-hati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Web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Keuntungan</a:t>
            </a:r>
          </a:p>
          <a:p>
            <a:pPr lvl="1"/>
            <a:r>
              <a:rPr lang="en-US" smtClean="0"/>
              <a:t>Mudah, murah dan cepat</a:t>
            </a:r>
          </a:p>
          <a:p>
            <a:pPr lvl="1"/>
            <a:r>
              <a:rPr lang="en-US" smtClean="0"/>
              <a:t>Terdapat link (tautan) pada sumber informasi lain yang terkait</a:t>
            </a:r>
          </a:p>
          <a:p>
            <a:pPr lvl="1"/>
            <a:r>
              <a:rPr lang="en-US" smtClean="0"/>
              <a:t>Mempercepat proses penyebaran informasi</a:t>
            </a:r>
          </a:p>
          <a:p>
            <a:pPr lvl="1"/>
            <a:r>
              <a:rPr lang="en-US" smtClean="0"/>
              <a:t>Terdapat berbagai macam sumber informasi dengan berbagai macam format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Web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Kelemahan</a:t>
            </a:r>
          </a:p>
          <a:p>
            <a:pPr lvl="1"/>
            <a:r>
              <a:rPr lang="en-US" sz="2400" smtClean="0"/>
              <a:t>Tidak ada kontrol kualitas yang memadai</a:t>
            </a:r>
          </a:p>
          <a:p>
            <a:pPr lvl="1"/>
            <a:r>
              <a:rPr lang="en-US" sz="2400" smtClean="0"/>
              <a:t>Sejumlah hasil penelitian yang sangat penting tidak tersedia secara online di web</a:t>
            </a:r>
          </a:p>
          <a:p>
            <a:pPr lvl="1"/>
            <a:r>
              <a:rPr lang="en-US" sz="2400" smtClean="0"/>
              <a:t>Mengingat banyaknya informasi yang ditawarkan, mencari informasi yang tepat sering kali sulit dan membutuhkan banyak waktu</a:t>
            </a:r>
          </a:p>
          <a:p>
            <a:pPr lvl="1"/>
            <a:r>
              <a:rPr lang="en-US" sz="2400" smtClean="0"/>
              <a:t>Sumber internet sering kali tidak stabil (dapat berubah sewaktu-waktu) dan sulit untuk didokumentasikan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Melakukan</a:t>
            </a:r>
            <a:r>
              <a:rPr lang="en-US" dirty="0" smtClean="0"/>
              <a:t> Literature Review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Sistematis</a:t>
            </a:r>
            <a:endParaRPr 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Definisikan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perjelas</a:t>
            </a:r>
            <a:r>
              <a:rPr lang="en-US" sz="2400" dirty="0" smtClean="0"/>
              <a:t> </a:t>
            </a:r>
            <a:r>
              <a:rPr lang="en-US" sz="2400" dirty="0" err="1" smtClean="0"/>
              <a:t>topik</a:t>
            </a:r>
            <a:endParaRPr lang="en-US" sz="2400" dirty="0" smtClean="0"/>
          </a:p>
          <a:p>
            <a:pPr lvl="1"/>
            <a:r>
              <a:rPr lang="en-US" sz="2000" dirty="0" err="1" smtClean="0"/>
              <a:t>Topik</a:t>
            </a:r>
            <a:r>
              <a:rPr lang="en-US" sz="2000" dirty="0" smtClean="0"/>
              <a:t> </a:t>
            </a:r>
            <a:r>
              <a:rPr lang="en-US" sz="2000" dirty="0" err="1" smtClean="0"/>
              <a:t>harus</a:t>
            </a:r>
            <a:r>
              <a:rPr lang="en-US" sz="2000" dirty="0" smtClean="0"/>
              <a:t> </a:t>
            </a:r>
            <a:r>
              <a:rPr lang="en-US" sz="2000" dirty="0" err="1" smtClean="0"/>
              <a:t>jelas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fokus</a:t>
            </a:r>
            <a:r>
              <a:rPr lang="en-US" sz="2000" dirty="0" smtClean="0"/>
              <a:t> </a:t>
            </a:r>
            <a:r>
              <a:rPr lang="en-US" sz="2000" dirty="0" err="1" smtClean="0"/>
              <a:t>ke</a:t>
            </a:r>
            <a:r>
              <a:rPr lang="en-US" sz="2000" dirty="0" smtClean="0"/>
              <a:t> </a:t>
            </a:r>
            <a:r>
              <a:rPr lang="en-US" sz="2000" dirty="0" err="1" smtClean="0"/>
              <a:t>suatu</a:t>
            </a:r>
            <a:r>
              <a:rPr lang="en-US" sz="2000" dirty="0" smtClean="0"/>
              <a:t> </a:t>
            </a:r>
            <a:r>
              <a:rPr lang="en-US" sz="2000" dirty="0" err="1" smtClean="0"/>
              <a:t>pertanyaan</a:t>
            </a: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r>
              <a:rPr lang="en-US" sz="2400" dirty="0" err="1" smtClean="0"/>
              <a:t>Desain</a:t>
            </a:r>
            <a:r>
              <a:rPr lang="en-US" sz="2400" dirty="0" smtClean="0"/>
              <a:t> </a:t>
            </a:r>
            <a:r>
              <a:rPr lang="en-US" sz="2400" dirty="0" err="1" smtClean="0"/>
              <a:t>proses</a:t>
            </a:r>
            <a:r>
              <a:rPr lang="en-US" sz="2400" dirty="0" smtClean="0"/>
              <a:t> </a:t>
            </a:r>
            <a:r>
              <a:rPr lang="en-US" sz="2400" dirty="0" err="1" smtClean="0"/>
              <a:t>pencarian</a:t>
            </a:r>
            <a:r>
              <a:rPr lang="en-US" sz="2400" dirty="0" smtClean="0"/>
              <a:t> </a:t>
            </a:r>
            <a:r>
              <a:rPr lang="en-US" sz="2400" dirty="0" err="1" smtClean="0"/>
              <a:t>literatur</a:t>
            </a:r>
            <a:endParaRPr lang="en-US" sz="2400" dirty="0" smtClean="0"/>
          </a:p>
          <a:p>
            <a:pPr lvl="1"/>
            <a:r>
              <a:rPr lang="en-US" sz="2000" dirty="0" err="1" smtClean="0"/>
              <a:t>Hati</a:t>
            </a:r>
            <a:r>
              <a:rPr lang="en-US" sz="2000" dirty="0" smtClean="0"/>
              <a:t> – </a:t>
            </a:r>
            <a:r>
              <a:rPr lang="en-US" sz="2000" dirty="0" err="1" smtClean="0"/>
              <a:t>hati</a:t>
            </a:r>
            <a:r>
              <a:rPr lang="en-US" sz="2000" dirty="0" smtClean="0"/>
              <a:t>, </a:t>
            </a:r>
            <a:r>
              <a:rPr lang="en-US" sz="2000" dirty="0" err="1" smtClean="0"/>
              <a:t>sistematis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organisasi</a:t>
            </a:r>
            <a:r>
              <a:rPr lang="en-US" sz="2000" dirty="0" smtClean="0"/>
              <a:t> </a:t>
            </a:r>
            <a:r>
              <a:rPr lang="en-US" sz="2000" dirty="0" err="1" smtClean="0"/>
              <a:t>proses</a:t>
            </a:r>
            <a:r>
              <a:rPr lang="en-US" sz="2000" dirty="0" smtClean="0"/>
              <a:t> </a:t>
            </a:r>
            <a:r>
              <a:rPr lang="en-US" sz="2000" dirty="0" err="1" smtClean="0"/>
              <a:t>pencarian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baik</a:t>
            </a: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r>
              <a:rPr lang="en-US" sz="2400" dirty="0" err="1" smtClean="0"/>
              <a:t>Cari</a:t>
            </a:r>
            <a:r>
              <a:rPr lang="en-US" sz="2400" dirty="0" smtClean="0"/>
              <a:t> </a:t>
            </a:r>
            <a:r>
              <a:rPr lang="en-US" sz="2400" dirty="0" err="1" smtClean="0"/>
              <a:t>laporan</a:t>
            </a:r>
            <a:r>
              <a:rPr lang="en-US" sz="2400" dirty="0" smtClean="0"/>
              <a:t>/</a:t>
            </a:r>
            <a:r>
              <a:rPr lang="en-US" sz="2400" dirty="0" err="1" smtClean="0"/>
              <a:t>artikel</a:t>
            </a:r>
            <a:r>
              <a:rPr lang="en-US" sz="2400" dirty="0" smtClean="0"/>
              <a:t> </a:t>
            </a:r>
            <a:r>
              <a:rPr lang="en-US" sz="2400" dirty="0" err="1" smtClean="0"/>
              <a:t>penelitian</a:t>
            </a:r>
            <a:endParaRPr lang="en-US" sz="2400" dirty="0" smtClean="0"/>
          </a:p>
          <a:p>
            <a:pPr lvl="1"/>
            <a:r>
              <a:rPr lang="en-US" sz="2000" dirty="0" err="1" smtClean="0"/>
              <a:t>Cari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tentukan</a:t>
            </a:r>
            <a:r>
              <a:rPr lang="en-US" sz="2000" dirty="0" smtClean="0"/>
              <a:t> </a:t>
            </a:r>
            <a:r>
              <a:rPr lang="en-US" sz="2000" dirty="0" err="1" smtClean="0"/>
              <a:t>artikel</a:t>
            </a:r>
            <a:r>
              <a:rPr lang="en-US" sz="2000" dirty="0" smtClean="0"/>
              <a:t> yang </a:t>
            </a:r>
            <a:r>
              <a:rPr lang="en-US" sz="2000" dirty="0" err="1" smtClean="0"/>
              <a:t>relevan</a:t>
            </a:r>
            <a:r>
              <a:rPr lang="en-US" sz="2000" dirty="0" smtClean="0"/>
              <a:t> </a:t>
            </a:r>
            <a:r>
              <a:rPr lang="en-US" sz="2000" dirty="0" err="1" smtClean="0"/>
              <a:t>berdasarkan</a:t>
            </a:r>
            <a:r>
              <a:rPr lang="en-US" sz="2000" dirty="0" smtClean="0"/>
              <a:t> </a:t>
            </a:r>
            <a:r>
              <a:rPr lang="en-US" sz="2000" dirty="0" err="1" smtClean="0"/>
              <a:t>abstrak</a:t>
            </a:r>
            <a:r>
              <a:rPr lang="en-US" sz="2000" dirty="0" smtClean="0"/>
              <a:t>, </a:t>
            </a:r>
            <a:r>
              <a:rPr lang="en-US" sz="2000" dirty="0" err="1" smtClean="0"/>
              <a:t>judul</a:t>
            </a:r>
            <a:r>
              <a:rPr lang="en-US" sz="2000" dirty="0" smtClean="0"/>
              <a:t>, </a:t>
            </a:r>
            <a:r>
              <a:rPr lang="en-US" sz="2000" dirty="0" err="1" smtClean="0"/>
              <a:t>kata</a:t>
            </a:r>
            <a:r>
              <a:rPr lang="en-US" sz="2000" dirty="0" smtClean="0"/>
              <a:t> </a:t>
            </a:r>
            <a:r>
              <a:rPr lang="en-US" sz="2000" dirty="0" err="1" smtClean="0"/>
              <a:t>kunci</a:t>
            </a:r>
            <a:r>
              <a:rPr lang="en-US" sz="2000" dirty="0" smtClean="0"/>
              <a:t>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 smtClean="0"/>
              <a:t>indeks</a:t>
            </a:r>
            <a:r>
              <a:rPr lang="en-US" sz="2000" dirty="0" smtClean="0"/>
              <a:t> </a:t>
            </a:r>
            <a:r>
              <a:rPr lang="en-US" sz="2000" dirty="0" err="1" smtClean="0"/>
              <a:t>kategori</a:t>
            </a:r>
            <a:r>
              <a:rPr lang="en-US" sz="2000" dirty="0" smtClean="0"/>
              <a:t> </a:t>
            </a:r>
            <a:r>
              <a:rPr lang="en-US" sz="2000" dirty="0" err="1" smtClean="0"/>
              <a:t>artikel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err="1" smtClean="0"/>
              <a:t>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sistem</a:t>
            </a:r>
            <a:r>
              <a:rPr lang="en-US" sz="2000" dirty="0" smtClean="0"/>
              <a:t> </a:t>
            </a:r>
            <a:r>
              <a:rPr lang="en-US" sz="2000" dirty="0" err="1" smtClean="0"/>
              <a:t>terkomputerisasi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membantu</a:t>
            </a:r>
            <a:r>
              <a:rPr lang="en-US" sz="2000" dirty="0" smtClean="0"/>
              <a:t> </a:t>
            </a:r>
            <a:r>
              <a:rPr lang="en-US" sz="2000" dirty="0" err="1" smtClean="0"/>
              <a:t>pencarian</a:t>
            </a:r>
            <a:r>
              <a:rPr lang="en-US" sz="2000" dirty="0" smtClean="0"/>
              <a:t> </a:t>
            </a:r>
            <a:r>
              <a:rPr lang="en-US" sz="2000" dirty="0" err="1" smtClean="0"/>
              <a:t>kata</a:t>
            </a:r>
            <a:r>
              <a:rPr lang="en-US" sz="2000" dirty="0" smtClean="0"/>
              <a:t> </a:t>
            </a:r>
            <a:r>
              <a:rPr lang="en-US" sz="2000" dirty="0" err="1" smtClean="0"/>
              <a:t>kunci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Melakukan</a:t>
            </a:r>
            <a:r>
              <a:rPr lang="en-US" dirty="0" smtClean="0"/>
              <a:t> Literature Review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Sistematis</a:t>
            </a:r>
            <a:endParaRPr 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Tentukan bagian yang harus dicatat</a:t>
            </a:r>
          </a:p>
          <a:p>
            <a:pPr lvl="1"/>
            <a:r>
              <a:rPr lang="en-US" sz="2400" smtClean="0"/>
              <a:t>Catat semua detail referensi yang digunakan</a:t>
            </a:r>
          </a:p>
          <a:p>
            <a:pPr lvl="1"/>
            <a:r>
              <a:rPr lang="en-US" sz="2400" smtClean="0"/>
              <a:t>Baca dengan kritis dan dengan tujuan yang jelas</a:t>
            </a:r>
          </a:p>
          <a:p>
            <a:pPr lvl="1"/>
            <a:r>
              <a:rPr lang="en-US" sz="2400" smtClean="0"/>
              <a:t>Rangkum dan simpulkan isi literatur </a:t>
            </a:r>
          </a:p>
          <a:p>
            <a:pPr lvl="1">
              <a:buFontTx/>
              <a:buNone/>
            </a:pPr>
            <a:endParaRPr lang="en-US" sz="2400" smtClean="0"/>
          </a:p>
          <a:p>
            <a:r>
              <a:rPr lang="en-US" sz="2800" smtClean="0"/>
              <a:t>Atur catatan – catatan literatur</a:t>
            </a:r>
          </a:p>
          <a:p>
            <a:pPr lvl="1"/>
            <a:r>
              <a:rPr lang="en-US" sz="2400" smtClean="0"/>
              <a:t>Atur literatur yang digunakan berdasarkan topik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Melakukan</a:t>
            </a:r>
            <a:r>
              <a:rPr lang="en-US" dirty="0" smtClean="0"/>
              <a:t> Literature Review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Sistematis</a:t>
            </a:r>
            <a:endParaRPr 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Tulis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review</a:t>
            </a:r>
          </a:p>
          <a:p>
            <a:pPr lvl="1"/>
            <a:r>
              <a:rPr lang="en-US" dirty="0" err="1" smtClean="0"/>
              <a:t>Jangan</a:t>
            </a:r>
            <a:r>
              <a:rPr lang="en-US" dirty="0" smtClean="0"/>
              <a:t> </a:t>
            </a:r>
            <a:r>
              <a:rPr lang="en-US" dirty="0" err="1" smtClean="0"/>
              <a:t>menuliskan</a:t>
            </a:r>
            <a:r>
              <a:rPr lang="en-US" dirty="0" smtClean="0"/>
              <a:t> </a:t>
            </a:r>
            <a:r>
              <a:rPr lang="en-US" dirty="0" err="1" smtClean="0"/>
              <a:t>daftar</a:t>
            </a:r>
            <a:r>
              <a:rPr lang="en-US" dirty="0" smtClean="0"/>
              <a:t> </a:t>
            </a:r>
            <a:r>
              <a:rPr lang="en-US" dirty="0" err="1" smtClean="0"/>
              <a:t>rangkuman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tiap</a:t>
            </a:r>
            <a:r>
              <a:rPr lang="en-US" dirty="0" smtClean="0"/>
              <a:t> </a:t>
            </a:r>
            <a:r>
              <a:rPr lang="en-US" dirty="0" err="1" smtClean="0"/>
              <a:t>literatur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endParaRPr lang="en-US" dirty="0" smtClean="0"/>
          </a:p>
          <a:p>
            <a:pPr lvl="1"/>
            <a:r>
              <a:rPr lang="en-US" dirty="0" err="1" smtClean="0"/>
              <a:t>Analisa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sintesa</a:t>
            </a:r>
            <a:r>
              <a:rPr lang="en-US" dirty="0" smtClean="0"/>
              <a:t> </a:t>
            </a:r>
            <a:r>
              <a:rPr lang="en-US" dirty="0" err="1" smtClean="0"/>
              <a:t>literatur-literatur</a:t>
            </a:r>
            <a:r>
              <a:rPr lang="en-US" dirty="0" smtClean="0"/>
              <a:t> yang </a:t>
            </a:r>
            <a:r>
              <a:rPr lang="en-US" dirty="0" err="1" smtClean="0"/>
              <a:t>digunakan</a:t>
            </a:r>
            <a:endParaRPr lang="en-US" dirty="0" smtClean="0"/>
          </a:p>
          <a:p>
            <a:pPr lvl="1"/>
            <a:r>
              <a:rPr lang="en-US" dirty="0" smtClean="0"/>
              <a:t>Format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 smtClean="0"/>
              <a:t>Menuliskan hasil literature review pada laporan penelitian</a:t>
            </a:r>
            <a:endParaRPr lang="en-US" sz="3600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 smtClean="0"/>
              <a:t>Dilarang COPY PASTE dalam bentuk apa pun</a:t>
            </a:r>
          </a:p>
          <a:p>
            <a:r>
              <a:rPr lang="id-ID" dirty="0" smtClean="0"/>
              <a:t>Semua ide yang didapat dari sumber lain harus dikutip</a:t>
            </a:r>
          </a:p>
          <a:p>
            <a:r>
              <a:rPr lang="id-ID" dirty="0" smtClean="0"/>
              <a:t>Kutipan terdiri atas 2 macam, yaitu kutipan langsung dan tidak langsung ( paraphrase / membuat kalimat yang berbeda tetapi memiliki makna yang sama )</a:t>
            </a:r>
          </a:p>
          <a:p>
            <a:r>
              <a:rPr lang="id-ID" dirty="0" smtClean="0"/>
              <a:t>Kutipan langsung tidak dianjurkan dan biasanya hanya terjadi paling banyak 1 atau 2 kali dalam sebuah penelitian, dan biasanya dilakukan saat mengutip definisi yang sulit untuk ditulis ulang.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714356"/>
            <a:ext cx="7772400" cy="1143000"/>
          </a:xfrm>
        </p:spPr>
        <p:txBody>
          <a:bodyPr>
            <a:normAutofit/>
          </a:bodyPr>
          <a:lstStyle/>
          <a:p>
            <a:r>
              <a:rPr lang="id-ID" dirty="0" smtClean="0"/>
              <a:t>Contoh pengutipan langsung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dirty="0" smtClean="0"/>
              <a:t>Rendang dibuat dengan memakai bahan rempah-rempah sebagai berikut : merica, garam, terasi, cabe rawit, cabe merah dan lain sebagainya.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smtClean="0"/>
              <a:t>Pada tahun 2019, dalam penelitiannya Angga menemukan </a:t>
            </a:r>
            <a:r>
              <a:rPr lang="id-ID" dirty="0" smtClean="0"/>
              <a:t>bahwa </a:t>
            </a:r>
            <a:r>
              <a:rPr lang="id-ID" b="1" dirty="0" smtClean="0">
                <a:solidFill>
                  <a:srgbClr val="FF0000"/>
                </a:solidFill>
              </a:rPr>
              <a:t>“</a:t>
            </a:r>
            <a:r>
              <a:rPr lang="id-ID" b="1" dirty="0" smtClean="0"/>
              <a:t>Rendang dibuat dengan memakai bahan rempah-rempah sebagai berikut : merica, garam, terasi, cabe rawit, cabe merah dan lain sebagainya.</a:t>
            </a:r>
            <a:r>
              <a:rPr lang="id-ID" b="1" dirty="0" smtClean="0">
                <a:solidFill>
                  <a:srgbClr val="FF0000"/>
                </a:solidFill>
              </a:rPr>
              <a:t>”</a:t>
            </a:r>
          </a:p>
          <a:p>
            <a:pPr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714356"/>
            <a:ext cx="7772400" cy="1143000"/>
          </a:xfrm>
        </p:spPr>
        <p:txBody>
          <a:bodyPr>
            <a:normAutofit/>
          </a:bodyPr>
          <a:lstStyle/>
          <a:p>
            <a:r>
              <a:rPr lang="id-ID" dirty="0" smtClean="0"/>
              <a:t>Contoh pengutipan langsung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dirty="0" smtClean="0"/>
              <a:t>Rendang dibuat dengan memakai bahan rempah-rempah sebagai berikut : merica, garam, terasi, cabe rawit, cabe merah dan lain sebagainya.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smtClean="0"/>
              <a:t>Pada suatu penelitian Angga (2019) menemukan </a:t>
            </a:r>
            <a:r>
              <a:rPr lang="id-ID" dirty="0" smtClean="0"/>
              <a:t>bahwa </a:t>
            </a:r>
            <a:r>
              <a:rPr lang="id-ID" b="1" dirty="0" smtClean="0">
                <a:solidFill>
                  <a:srgbClr val="FF0000"/>
                </a:solidFill>
              </a:rPr>
              <a:t>“</a:t>
            </a:r>
            <a:r>
              <a:rPr lang="id-ID" b="1" dirty="0" smtClean="0"/>
              <a:t>Rendang dibuat dengan memakai bahan rempah-rempah sebagai berikut : merica, garam, terasi, cabe rawit, cabe merah dan lain </a:t>
            </a:r>
            <a:r>
              <a:rPr lang="id-ID" b="1" smtClean="0"/>
              <a:t>sebagainya</a:t>
            </a:r>
            <a:r>
              <a:rPr lang="id-ID" b="1" smtClean="0"/>
              <a:t>.</a:t>
            </a:r>
            <a:r>
              <a:rPr lang="id-ID" b="1" smtClean="0">
                <a:solidFill>
                  <a:srgbClr val="FF0000"/>
                </a:solidFill>
              </a:rPr>
              <a:t>”</a:t>
            </a:r>
            <a:endParaRPr lang="id-ID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714356"/>
            <a:ext cx="7772400" cy="1143000"/>
          </a:xfrm>
        </p:spPr>
        <p:txBody>
          <a:bodyPr>
            <a:normAutofit/>
          </a:bodyPr>
          <a:lstStyle/>
          <a:p>
            <a:r>
              <a:rPr lang="id-ID" dirty="0" smtClean="0"/>
              <a:t>Contoh pengutipan langsung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dirty="0" smtClean="0"/>
              <a:t>Rendang dibuat dengan memakai bahan rempah-rempah sebagai berikut : merica, garam, terasi, cabe rawit, cabe merah dan lain sebagainya.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d-ID" smtClean="0"/>
              <a:t>Pada suatu penelitian  (Angga, 2019) ditemukan </a:t>
            </a:r>
            <a:r>
              <a:rPr lang="id-ID" dirty="0" smtClean="0"/>
              <a:t>bahwa </a:t>
            </a:r>
            <a:r>
              <a:rPr lang="id-ID" b="1" dirty="0" smtClean="0">
                <a:solidFill>
                  <a:srgbClr val="FF0000"/>
                </a:solidFill>
              </a:rPr>
              <a:t>“</a:t>
            </a:r>
            <a:r>
              <a:rPr lang="id-ID" b="1" dirty="0" smtClean="0"/>
              <a:t>Rendang dibuat dengan memakai bahan rempah-rempah sebagai berikut : merica, garam, terasi, cabe rawit, cabe merah dan lain </a:t>
            </a:r>
            <a:r>
              <a:rPr lang="id-ID" b="1" smtClean="0"/>
              <a:t>sebagainya</a:t>
            </a:r>
            <a:r>
              <a:rPr lang="id-ID" b="1" smtClean="0"/>
              <a:t>.</a:t>
            </a:r>
            <a:r>
              <a:rPr lang="id-ID" b="1" smtClean="0">
                <a:solidFill>
                  <a:srgbClr val="FF0000"/>
                </a:solidFill>
              </a:rPr>
              <a:t>”</a:t>
            </a:r>
            <a:endParaRPr lang="id-ID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71435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Contoh pengutipan tidak langsung / paraphrasing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Rendang dibuat dengan memakai bahan rempah-rempah sebagai berikut : merica, garam, terasi, cabe rawit, cabe merah dan lain sebagainya.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d-ID" dirty="0" smtClean="0"/>
              <a:t>...........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90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Menuliskan hasil literature review pada laporan penelitian</a:t>
            </a:r>
            <a:endParaRPr lang="en-US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2228850"/>
            <a:ext cx="8218487" cy="4171950"/>
          </a:xfrm>
        </p:spPr>
        <p:txBody>
          <a:bodyPr>
            <a:normAutofit lnSpcReduction="10000"/>
          </a:bodyPr>
          <a:lstStyle/>
          <a:p>
            <a:r>
              <a:rPr lang="id-ID" dirty="0" smtClean="0"/>
              <a:t>Seluruh kutipan berarti idenya milik orang lain, maka sumber kutipan harus dituliskan.</a:t>
            </a:r>
          </a:p>
          <a:p>
            <a:r>
              <a:rPr lang="id-ID" dirty="0" smtClean="0"/>
              <a:t>Cara penulisan sumber kutipan :</a:t>
            </a:r>
          </a:p>
          <a:p>
            <a:pPr>
              <a:buNone/>
            </a:pPr>
            <a:r>
              <a:rPr lang="id-ID" dirty="0" smtClean="0"/>
              <a:t>	Norman (2015) menyatakan bahwa desain yang baik </a:t>
            </a:r>
            <a:r>
              <a:rPr lang="id-ID" smtClean="0"/>
              <a:t>memudahkan </a:t>
            </a:r>
            <a:r>
              <a:rPr lang="id-ID" smtClean="0"/>
              <a:t>.......</a:t>
            </a:r>
          </a:p>
          <a:p>
            <a:pPr>
              <a:buNone/>
            </a:pPr>
            <a:r>
              <a:rPr lang="id-ID" smtClean="0"/>
              <a:t> </a:t>
            </a:r>
            <a:r>
              <a:rPr lang="id-ID" smtClean="0"/>
              <a:t>  (Norman, 2015) menyatakan bahwa ......</a:t>
            </a:r>
            <a:endParaRPr lang="id-ID" dirty="0" smtClean="0"/>
          </a:p>
          <a:p>
            <a:pPr>
              <a:buNone/>
            </a:pPr>
            <a:r>
              <a:rPr lang="id-ID" dirty="0" smtClean="0"/>
              <a:t>	atau</a:t>
            </a:r>
          </a:p>
          <a:p>
            <a:pPr>
              <a:buNone/>
            </a:pPr>
            <a:r>
              <a:rPr lang="id-ID" dirty="0" smtClean="0"/>
              <a:t>	Desain yang baik memudahkan ....... ( Norman, 2015 )</a:t>
            </a:r>
          </a:p>
          <a:p>
            <a:pPr>
              <a:buNone/>
            </a:pPr>
            <a:r>
              <a:rPr lang="id-ID" dirty="0" smtClean="0"/>
              <a:t>	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 smtClean="0"/>
              <a:t>Tugas </a:t>
            </a:r>
            <a:endParaRPr lang="en-US" sz="3600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mtClean="0"/>
              <a:t>Carilah minimal 3 sumber literatur  dari minimal 3 jenis literatur yang berbeda yang berhubungan dengan topik tugas akhir yang anda pilih</a:t>
            </a:r>
            <a:r>
              <a:rPr lang="id-ID" smtClean="0"/>
              <a:t>.</a:t>
            </a:r>
          </a:p>
          <a:p>
            <a:pPr marL="514350" indent="-514350">
              <a:buAutoNum type="arabicPeriod"/>
            </a:pPr>
            <a:r>
              <a:rPr lang="id-ID" smtClean="0"/>
              <a:t>Topik TA</a:t>
            </a:r>
          </a:p>
          <a:p>
            <a:pPr marL="514350" indent="-514350">
              <a:buAutoNum type="arabicPeriod"/>
            </a:pPr>
            <a:r>
              <a:rPr lang="id-ID" smtClean="0"/>
              <a:t>Jenis</a:t>
            </a:r>
          </a:p>
          <a:p>
            <a:pPr marL="514350" indent="-514350">
              <a:buAutoNum type="arabicPeriod"/>
            </a:pPr>
            <a:r>
              <a:rPr lang="id-ID" smtClean="0"/>
              <a:t>Judul</a:t>
            </a:r>
          </a:p>
          <a:p>
            <a:pPr marL="514350" indent="-514350">
              <a:buAutoNum type="arabicPeriod"/>
            </a:pPr>
            <a:r>
              <a:rPr lang="id-ID" smtClean="0"/>
              <a:t>Pengarang</a:t>
            </a:r>
          </a:p>
          <a:p>
            <a:pPr marL="514350" indent="-514350">
              <a:buAutoNum type="arabicPeriod"/>
            </a:pPr>
            <a:r>
              <a:rPr lang="id-ID" smtClean="0"/>
              <a:t>Tahun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baya 50 tahu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Ubaya 50 tahun" id="{E34E5270-E75E-4A0D-A32F-0C92323F1E12}" vid="{15A4C42F-02C2-4D05-81D7-549D0EE596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Ubaya 50 tahun</Template>
  <TotalTime>239</TotalTime>
  <Words>953</Words>
  <Application>Microsoft Office PowerPoint</Application>
  <PresentationFormat>On-screen Show (4:3)</PresentationFormat>
  <Paragraphs>135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Ubaya 50 tahun</vt:lpstr>
      <vt:lpstr>Literature Review</vt:lpstr>
      <vt:lpstr>WHY ?</vt:lpstr>
      <vt:lpstr>WHAT ?</vt:lpstr>
      <vt:lpstr>WHAT ?</vt:lpstr>
      <vt:lpstr>WHAT ?</vt:lpstr>
      <vt:lpstr>HOW ?</vt:lpstr>
      <vt:lpstr>Mencari Literatur Penelitian</vt:lpstr>
      <vt:lpstr>Jurnal Akademik</vt:lpstr>
      <vt:lpstr>Prosiding Konferensi</vt:lpstr>
      <vt:lpstr>Buku</vt:lpstr>
      <vt:lpstr>Disertasi</vt:lpstr>
      <vt:lpstr>Dokumen Pemerintah</vt:lpstr>
      <vt:lpstr>Jurnal Dagang dan Laporan Penelitian</vt:lpstr>
      <vt:lpstr>The Web</vt:lpstr>
      <vt:lpstr>The Web</vt:lpstr>
      <vt:lpstr>The Web</vt:lpstr>
      <vt:lpstr>Melakukan Literature Review Secara Sistematis</vt:lpstr>
      <vt:lpstr>Melakukan Literature Review Secara Sistematis</vt:lpstr>
      <vt:lpstr>Melakukan Literature Review Secara Sistematis</vt:lpstr>
      <vt:lpstr>Menuliskan hasil literature review pada laporan penelitian</vt:lpstr>
      <vt:lpstr>Contoh pengutipan langsung</vt:lpstr>
      <vt:lpstr>Contoh pengutipan langsung</vt:lpstr>
      <vt:lpstr>Contoh pengutipan langsung</vt:lpstr>
      <vt:lpstr>Contoh pengutipan tidak langsung / paraphrasing</vt:lpstr>
      <vt:lpstr>Menuliskan hasil literature review pada laporan penelitian</vt:lpstr>
      <vt:lpstr>Tugas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</dc:title>
  <dc:creator>USER</dc:creator>
  <cp:lastModifiedBy>user</cp:lastModifiedBy>
  <cp:revision>12</cp:revision>
  <dcterms:created xsi:type="dcterms:W3CDTF">2014-09-12T06:51:16Z</dcterms:created>
  <dcterms:modified xsi:type="dcterms:W3CDTF">2019-03-04T07:40:10Z</dcterms:modified>
</cp:coreProperties>
</file>